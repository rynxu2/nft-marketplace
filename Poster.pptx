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28803600" cy="4462272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40" userDrawn="1">
          <p15:clr>
            <a:srgbClr val="A4A3A4"/>
          </p15:clr>
        </p15:guide>
        <p15:guide id="2" pos="9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33" d="100"/>
          <a:sy n="33" d="100"/>
        </p:scale>
        <p:origin x="240" y="-6200"/>
      </p:cViewPr>
      <p:guideLst>
        <p:guide orient="horz" pos="14140"/>
        <p:guide pos="9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270" y="7302894"/>
            <a:ext cx="24483060" cy="15535428"/>
          </a:xfrm>
        </p:spPr>
        <p:txBody>
          <a:bodyPr anchor="b"/>
          <a:lstStyle>
            <a:lvl1pPr algn="ctr">
              <a:defRPr sz="18900"/>
            </a:lvl1pPr>
          </a:lstStyle>
          <a:p>
            <a:r>
              <a:rPr lang="en-US"/>
              <a:t>Click to edit Master title style</a:t>
            </a:r>
            <a:endParaRPr lang="en-US" dirty="0"/>
          </a:p>
        </p:txBody>
      </p:sp>
      <p:sp>
        <p:nvSpPr>
          <p:cNvPr id="3" name="Subtitle 2"/>
          <p:cNvSpPr>
            <a:spLocks noGrp="1"/>
          </p:cNvSpPr>
          <p:nvPr>
            <p:ph type="subTitle" idx="1"/>
          </p:nvPr>
        </p:nvSpPr>
        <p:spPr>
          <a:xfrm>
            <a:off x="3600450" y="23437428"/>
            <a:ext cx="21602700" cy="10773568"/>
          </a:xfrm>
        </p:spPr>
        <p:txBody>
          <a:bodyPr/>
          <a:lstStyle>
            <a:lvl1pPr marL="0" indent="0" algn="ctr">
              <a:buNone/>
              <a:defRPr sz="7560"/>
            </a:lvl1pPr>
            <a:lvl2pPr marL="1440180" indent="0" algn="ctr">
              <a:buNone/>
              <a:defRPr sz="6300"/>
            </a:lvl2pPr>
            <a:lvl3pPr marL="2880360" indent="0" algn="ctr">
              <a:buNone/>
              <a:defRPr sz="5670"/>
            </a:lvl3pPr>
            <a:lvl4pPr marL="4320540" indent="0" algn="ctr">
              <a:buNone/>
              <a:defRPr sz="5040"/>
            </a:lvl4pPr>
            <a:lvl5pPr marL="5760720" indent="0" algn="ctr">
              <a:buNone/>
              <a:defRPr sz="5040"/>
            </a:lvl5pPr>
            <a:lvl6pPr marL="7200900" indent="0" algn="ctr">
              <a:buNone/>
              <a:defRPr sz="5040"/>
            </a:lvl6pPr>
            <a:lvl7pPr marL="8641080" indent="0" algn="ctr">
              <a:buNone/>
              <a:defRPr sz="5040"/>
            </a:lvl7pPr>
            <a:lvl8pPr marL="10081260" indent="0" algn="ctr">
              <a:buNone/>
              <a:defRPr sz="5040"/>
            </a:lvl8pPr>
            <a:lvl9pPr marL="11521440" indent="0" algn="ctr">
              <a:buNone/>
              <a:defRPr sz="5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247" y="11124784"/>
            <a:ext cx="24843105" cy="18561941"/>
          </a:xfrm>
        </p:spPr>
        <p:txBody>
          <a:bodyPr anchor="b"/>
          <a:lstStyle>
            <a:lvl1pPr>
              <a:defRPr sz="18900"/>
            </a:lvl1pPr>
          </a:lstStyle>
          <a:p>
            <a:r>
              <a:rPr lang="en-US"/>
              <a:t>Click to edit Master title style</a:t>
            </a:r>
            <a:endParaRPr lang="en-US" dirty="0"/>
          </a:p>
        </p:txBody>
      </p:sp>
      <p:sp>
        <p:nvSpPr>
          <p:cNvPr id="3" name="Text Placeholder 2"/>
          <p:cNvSpPr>
            <a:spLocks noGrp="1"/>
          </p:cNvSpPr>
          <p:nvPr>
            <p:ph type="body" idx="1"/>
          </p:nvPr>
        </p:nvSpPr>
        <p:spPr>
          <a:xfrm>
            <a:off x="1965247" y="29862329"/>
            <a:ext cx="24843105" cy="9761286"/>
          </a:xfrm>
        </p:spPr>
        <p:txBody>
          <a:bodyPr/>
          <a:lstStyle>
            <a:lvl1pPr marL="0" indent="0">
              <a:buNone/>
              <a:defRPr sz="7560">
                <a:solidFill>
                  <a:schemeClr val="tx1"/>
                </a:solidFill>
              </a:defRPr>
            </a:lvl1pPr>
            <a:lvl2pPr marL="1440180" indent="0">
              <a:buNone/>
              <a:defRPr sz="6300">
                <a:solidFill>
                  <a:schemeClr val="tx1">
                    <a:tint val="75000"/>
                  </a:schemeClr>
                </a:solidFill>
              </a:defRPr>
            </a:lvl2pPr>
            <a:lvl3pPr marL="2880360" indent="0">
              <a:buNone/>
              <a:defRPr sz="5670">
                <a:solidFill>
                  <a:schemeClr val="tx1">
                    <a:tint val="75000"/>
                  </a:schemeClr>
                </a:solidFill>
              </a:defRPr>
            </a:lvl3pPr>
            <a:lvl4pPr marL="4320540" indent="0">
              <a:buNone/>
              <a:defRPr sz="5040">
                <a:solidFill>
                  <a:schemeClr val="tx1">
                    <a:tint val="75000"/>
                  </a:schemeClr>
                </a:solidFill>
              </a:defRPr>
            </a:lvl4pPr>
            <a:lvl5pPr marL="5760720" indent="0">
              <a:buNone/>
              <a:defRPr sz="5040">
                <a:solidFill>
                  <a:schemeClr val="tx1">
                    <a:tint val="75000"/>
                  </a:schemeClr>
                </a:solidFill>
              </a:defRPr>
            </a:lvl5pPr>
            <a:lvl6pPr marL="7200900" indent="0">
              <a:buNone/>
              <a:defRPr sz="5040">
                <a:solidFill>
                  <a:schemeClr val="tx1">
                    <a:tint val="75000"/>
                  </a:schemeClr>
                </a:solidFill>
              </a:defRPr>
            </a:lvl6pPr>
            <a:lvl7pPr marL="8641080" indent="0">
              <a:buNone/>
              <a:defRPr sz="5040">
                <a:solidFill>
                  <a:schemeClr val="tx1">
                    <a:tint val="75000"/>
                  </a:schemeClr>
                </a:solidFill>
              </a:defRPr>
            </a:lvl7pPr>
            <a:lvl8pPr marL="10081260" indent="0">
              <a:buNone/>
              <a:defRPr sz="5040">
                <a:solidFill>
                  <a:schemeClr val="tx1">
                    <a:tint val="75000"/>
                  </a:schemeClr>
                </a:solidFill>
              </a:defRPr>
            </a:lvl8pPr>
            <a:lvl9pPr marL="11521440" indent="0">
              <a:buNone/>
              <a:defRPr sz="504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95511AC-980B-485A-851E-DBD0B8F4CB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80248" y="11878818"/>
            <a:ext cx="12241530" cy="2831290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14581823" y="11878818"/>
            <a:ext cx="12241530" cy="2831290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95511AC-980B-485A-851E-DBD0B8F4CB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375773"/>
            <a:ext cx="24843105" cy="862505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4002" y="10938845"/>
            <a:ext cx="12185271"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endParaRPr lang="en-US"/>
          </a:p>
        </p:txBody>
      </p:sp>
      <p:sp>
        <p:nvSpPr>
          <p:cNvPr id="4" name="Content Placeholder 3"/>
          <p:cNvSpPr>
            <a:spLocks noGrp="1"/>
          </p:cNvSpPr>
          <p:nvPr>
            <p:ph sz="half" idx="2"/>
          </p:nvPr>
        </p:nvSpPr>
        <p:spPr>
          <a:xfrm>
            <a:off x="1984002" y="16299804"/>
            <a:ext cx="12185271" cy="239745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14581824" y="10938845"/>
            <a:ext cx="12245282"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endParaRPr lang="en-US"/>
          </a:p>
        </p:txBody>
      </p:sp>
      <p:sp>
        <p:nvSpPr>
          <p:cNvPr id="6" name="Content Placeholder 5"/>
          <p:cNvSpPr>
            <a:spLocks noGrp="1"/>
          </p:cNvSpPr>
          <p:nvPr>
            <p:ph sz="quarter" idx="4"/>
          </p:nvPr>
        </p:nvSpPr>
        <p:spPr>
          <a:xfrm>
            <a:off x="14581824" y="16299804"/>
            <a:ext cx="12245282" cy="239745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E95511AC-980B-485A-851E-DBD0B8F4CBA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5511AC-980B-485A-851E-DBD0B8F4CBA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Content Placeholder 2"/>
          <p:cNvSpPr>
            <a:spLocks noGrp="1"/>
          </p:cNvSpPr>
          <p:nvPr>
            <p:ph idx="1"/>
          </p:nvPr>
        </p:nvSpPr>
        <p:spPr>
          <a:xfrm>
            <a:off x="12245281" y="6424901"/>
            <a:ext cx="14581823" cy="31711279"/>
          </a:xfrm>
        </p:spPr>
        <p:txBody>
          <a:bodyPr/>
          <a:lstStyle>
            <a:lvl1pPr>
              <a:defRPr sz="10080"/>
            </a:lvl1pPr>
            <a:lvl2pPr>
              <a:defRPr sz="8820"/>
            </a:lvl2pPr>
            <a:lvl3pPr>
              <a:defRPr sz="7560"/>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95511AC-980B-485A-851E-DBD0B8F4CB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245281" y="6424901"/>
            <a:ext cx="14581823" cy="31711279"/>
          </a:xfrm>
        </p:spPr>
        <p:txBody>
          <a:bodyPr anchor="t"/>
          <a:lstStyle>
            <a:lvl1pPr marL="0" indent="0">
              <a:buNone/>
              <a:defRPr sz="10080"/>
            </a:lvl1pPr>
            <a:lvl2pPr marL="1440180" indent="0">
              <a:buNone/>
              <a:defRPr sz="8820"/>
            </a:lvl2pPr>
            <a:lvl3pPr marL="2880360" indent="0">
              <a:buNone/>
              <a:defRPr sz="7560"/>
            </a:lvl3pPr>
            <a:lvl4pPr marL="4320540" indent="0">
              <a:buNone/>
              <a:defRPr sz="6300"/>
            </a:lvl4pPr>
            <a:lvl5pPr marL="5760720" indent="0">
              <a:buNone/>
              <a:defRPr sz="6300"/>
            </a:lvl5pPr>
            <a:lvl6pPr marL="7200900" indent="0">
              <a:buNone/>
              <a:defRPr sz="6300"/>
            </a:lvl6pPr>
            <a:lvl7pPr marL="8641080" indent="0">
              <a:buNone/>
              <a:defRPr sz="6300"/>
            </a:lvl7pPr>
            <a:lvl8pPr marL="10081260" indent="0">
              <a:buNone/>
              <a:defRPr sz="6300"/>
            </a:lvl8pPr>
            <a:lvl9pPr marL="11521440" indent="0">
              <a:buNone/>
              <a:defRPr sz="6300"/>
            </a:lvl9pPr>
          </a:lstStyle>
          <a:p>
            <a:r>
              <a:rPr lang="en-US"/>
              <a:t>Click icon to add picture</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95511AC-980B-485A-851E-DBD0B8F4CB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2578" y="2375764"/>
            <a:ext cx="6210776" cy="378159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80249" y="2375764"/>
            <a:ext cx="18272284" cy="3781596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248" y="2375773"/>
            <a:ext cx="24843105" cy="862505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80248" y="11878818"/>
            <a:ext cx="24843105" cy="2831290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980248" y="41358955"/>
            <a:ext cx="6480810" cy="2375764"/>
          </a:xfrm>
          <a:prstGeom prst="rect">
            <a:avLst/>
          </a:prstGeom>
        </p:spPr>
        <p:txBody>
          <a:bodyPr vert="horz" lIns="91440" tIns="45720" rIns="91440" bIns="45720" rtlCol="0" anchor="ctr"/>
          <a:lstStyle>
            <a:lvl1pPr algn="l">
              <a:defRPr sz="3780">
                <a:solidFill>
                  <a:schemeClr val="tx1">
                    <a:tint val="75000"/>
                  </a:schemeClr>
                </a:solidFill>
              </a:defRPr>
            </a:lvl1pPr>
          </a:lstStyle>
          <a:p>
            <a:fld id="{E95511AC-980B-485A-851E-DBD0B8F4CBAD}" type="datetimeFigureOut">
              <a:rPr lang="en-US" smtClean="0"/>
            </a:fld>
            <a:endParaRPr lang="en-US"/>
          </a:p>
        </p:txBody>
      </p:sp>
      <p:sp>
        <p:nvSpPr>
          <p:cNvPr id="5" name="Footer Placeholder 4"/>
          <p:cNvSpPr>
            <a:spLocks noGrp="1"/>
          </p:cNvSpPr>
          <p:nvPr>
            <p:ph type="ftr" sz="quarter" idx="3"/>
          </p:nvPr>
        </p:nvSpPr>
        <p:spPr>
          <a:xfrm>
            <a:off x="9541193" y="41358955"/>
            <a:ext cx="9721215" cy="2375764"/>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342543" y="41358955"/>
            <a:ext cx="6480810" cy="2375764"/>
          </a:xfrm>
          <a:prstGeom prst="rect">
            <a:avLst/>
          </a:prstGeom>
        </p:spPr>
        <p:txBody>
          <a:bodyPr vert="horz" lIns="91440" tIns="45720" rIns="91440" bIns="45720" rtlCol="0" anchor="ctr"/>
          <a:lstStyle>
            <a:lvl1pPr algn="r">
              <a:defRPr sz="3780">
                <a:solidFill>
                  <a:schemeClr val="tx1">
                    <a:tint val="75000"/>
                  </a:schemeClr>
                </a:solidFill>
              </a:defRPr>
            </a:lvl1pPr>
          </a:lstStyle>
          <a:p>
            <a:fld id="{06A2BFA2-7CEB-4D76-9663-917F13DE4B1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880360" rtl="0" eaLnBrk="1" latinLnBrk="0" hangingPunct="1">
        <a:lnSpc>
          <a:spcPct val="90000"/>
        </a:lnSpc>
        <a:spcBef>
          <a:spcPct val="0"/>
        </a:spcBef>
        <a:buNone/>
        <a:defRPr sz="13860" kern="1200">
          <a:solidFill>
            <a:schemeClr val="tx1"/>
          </a:solidFill>
          <a:latin typeface="+mj-lt"/>
          <a:ea typeface="+mj-ea"/>
          <a:cs typeface="+mj-cs"/>
        </a:defRPr>
      </a:lvl1pPr>
    </p:titleStyle>
    <p:bodyStyle>
      <a:lvl1pPr marL="720090" indent="-720090" algn="l" defTabSz="2880360" rtl="0" eaLnBrk="1" latinLnBrk="0" hangingPunct="1">
        <a:lnSpc>
          <a:spcPct val="90000"/>
        </a:lnSpc>
        <a:spcBef>
          <a:spcPts val="3150"/>
        </a:spcBef>
        <a:buFont typeface="Arial" panose="020B0604020202020204" pitchFamily="34" charset="0"/>
        <a:buChar char="•"/>
        <a:defRPr sz="8820" kern="1200">
          <a:solidFill>
            <a:schemeClr val="tx1"/>
          </a:solidFill>
          <a:latin typeface="+mn-lt"/>
          <a:ea typeface="+mn-ea"/>
          <a:cs typeface="+mn-cs"/>
        </a:defRPr>
      </a:lvl1pPr>
      <a:lvl2pPr marL="2160270" indent="-720090" algn="l" defTabSz="2880360" rtl="0" eaLnBrk="1" latinLnBrk="0" hangingPunct="1">
        <a:lnSpc>
          <a:spcPct val="90000"/>
        </a:lnSpc>
        <a:spcBef>
          <a:spcPts val="1575"/>
        </a:spcBef>
        <a:buFont typeface="Arial" panose="020B0604020202020204" pitchFamily="34" charset="0"/>
        <a:buChar char="•"/>
        <a:defRPr sz="7560" kern="1200">
          <a:solidFill>
            <a:schemeClr val="tx1"/>
          </a:solidFill>
          <a:latin typeface="+mn-lt"/>
          <a:ea typeface="+mn-ea"/>
          <a:cs typeface="+mn-cs"/>
        </a:defRPr>
      </a:lvl2pPr>
      <a:lvl3pPr marL="3600450" indent="-720090" algn="l" defTabSz="2880360" rtl="0" eaLnBrk="1" latinLnBrk="0" hangingPunct="1">
        <a:lnSpc>
          <a:spcPct val="90000"/>
        </a:lnSpc>
        <a:spcBef>
          <a:spcPts val="1575"/>
        </a:spcBef>
        <a:buFont typeface="Arial" panose="020B0604020202020204" pitchFamily="34" charset="0"/>
        <a:buChar char="•"/>
        <a:defRPr sz="6300" kern="1200">
          <a:solidFill>
            <a:schemeClr val="tx1"/>
          </a:solidFill>
          <a:latin typeface="+mn-lt"/>
          <a:ea typeface="+mn-ea"/>
          <a:cs typeface="+mn-cs"/>
        </a:defRPr>
      </a:lvl3pPr>
      <a:lvl4pPr marL="50406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4pPr>
      <a:lvl5pPr marL="648081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5pPr>
      <a:lvl6pPr marL="792099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6pPr>
      <a:lvl7pPr marL="936117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7pPr>
      <a:lvl8pPr marL="1080135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8pPr>
      <a:lvl9pPr marL="122415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9pPr>
    </p:bodyStyle>
    <p:otherStyle>
      <a:defPPr>
        <a:defRPr lang="en-US"/>
      </a:defPPr>
      <a:lvl1pPr marL="0" algn="l" defTabSz="2880360" rtl="0" eaLnBrk="1" latinLnBrk="0" hangingPunct="1">
        <a:defRPr sz="5670" kern="1200">
          <a:solidFill>
            <a:schemeClr val="tx1"/>
          </a:solidFill>
          <a:latin typeface="+mn-lt"/>
          <a:ea typeface="+mn-ea"/>
          <a:cs typeface="+mn-cs"/>
        </a:defRPr>
      </a:lvl1pPr>
      <a:lvl2pPr marL="1440180" algn="l" defTabSz="2880360" rtl="0" eaLnBrk="1" latinLnBrk="0" hangingPunct="1">
        <a:defRPr sz="5670" kern="1200">
          <a:solidFill>
            <a:schemeClr val="tx1"/>
          </a:solidFill>
          <a:latin typeface="+mn-lt"/>
          <a:ea typeface="+mn-ea"/>
          <a:cs typeface="+mn-cs"/>
        </a:defRPr>
      </a:lvl2pPr>
      <a:lvl3pPr marL="2880360" algn="l" defTabSz="2880360" rtl="0" eaLnBrk="1" latinLnBrk="0" hangingPunct="1">
        <a:defRPr sz="5670" kern="1200">
          <a:solidFill>
            <a:schemeClr val="tx1"/>
          </a:solidFill>
          <a:latin typeface="+mn-lt"/>
          <a:ea typeface="+mn-ea"/>
          <a:cs typeface="+mn-cs"/>
        </a:defRPr>
      </a:lvl3pPr>
      <a:lvl4pPr marL="4320540" algn="l" defTabSz="2880360" rtl="0" eaLnBrk="1" latinLnBrk="0" hangingPunct="1">
        <a:defRPr sz="5670" kern="1200">
          <a:solidFill>
            <a:schemeClr val="tx1"/>
          </a:solidFill>
          <a:latin typeface="+mn-lt"/>
          <a:ea typeface="+mn-ea"/>
          <a:cs typeface="+mn-cs"/>
        </a:defRPr>
      </a:lvl4pPr>
      <a:lvl5pPr marL="5760720" algn="l" defTabSz="2880360" rtl="0" eaLnBrk="1" latinLnBrk="0" hangingPunct="1">
        <a:defRPr sz="5670" kern="1200">
          <a:solidFill>
            <a:schemeClr val="tx1"/>
          </a:solidFill>
          <a:latin typeface="+mn-lt"/>
          <a:ea typeface="+mn-ea"/>
          <a:cs typeface="+mn-cs"/>
        </a:defRPr>
      </a:lvl5pPr>
      <a:lvl6pPr marL="7200900" algn="l" defTabSz="2880360" rtl="0" eaLnBrk="1" latinLnBrk="0" hangingPunct="1">
        <a:defRPr sz="5670" kern="1200">
          <a:solidFill>
            <a:schemeClr val="tx1"/>
          </a:solidFill>
          <a:latin typeface="+mn-lt"/>
          <a:ea typeface="+mn-ea"/>
          <a:cs typeface="+mn-cs"/>
        </a:defRPr>
      </a:lvl6pPr>
      <a:lvl7pPr marL="8641080" algn="l" defTabSz="2880360" rtl="0" eaLnBrk="1" latinLnBrk="0" hangingPunct="1">
        <a:defRPr sz="5670" kern="1200">
          <a:solidFill>
            <a:schemeClr val="tx1"/>
          </a:solidFill>
          <a:latin typeface="+mn-lt"/>
          <a:ea typeface="+mn-ea"/>
          <a:cs typeface="+mn-cs"/>
        </a:defRPr>
      </a:lvl7pPr>
      <a:lvl8pPr marL="10081260" algn="l" defTabSz="2880360" rtl="0" eaLnBrk="1" latinLnBrk="0" hangingPunct="1">
        <a:defRPr sz="5670" kern="1200">
          <a:solidFill>
            <a:schemeClr val="tx1"/>
          </a:solidFill>
          <a:latin typeface="+mn-lt"/>
          <a:ea typeface="+mn-ea"/>
          <a:cs typeface="+mn-cs"/>
        </a:defRPr>
      </a:lvl8pPr>
      <a:lvl9pPr marL="11521440" algn="l" defTabSz="2880360" rtl="0" eaLnBrk="1" latinLnBrk="0" hangingPunct="1">
        <a:defRPr sz="56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37946" y="6907926"/>
            <a:ext cx="25923875" cy="1968504"/>
          </a:xfrm>
          <a:prstGeom prst="rect">
            <a:avLst/>
          </a:prstGeom>
        </p:spPr>
        <p:txBody>
          <a:bodyPr vert="horz" lIns="91440" tIns="45720" rIns="91440" bIns="45720" rtlCol="0" anchor="b">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pPr>
              <a:lnSpc>
                <a:spcPct val="130000"/>
              </a:lnSpc>
            </a:pPr>
            <a:r>
              <a:rPr lang="en-US" sz="6000" b="1" dirty="0">
                <a:latin typeface="Times New Roman" panose="02020603050405020304" pitchFamily="18" charset="0"/>
                <a:cs typeface="Times New Roman" panose="02020603050405020304" pitchFamily="18" charset="0"/>
              </a:rPr>
              <a:t>XÂY DỰNG SÀN GIAO DỊCH TÀI SẢN SỐ </a:t>
            </a:r>
            <a:endParaRPr lang="en-US" sz="6000" b="1" dirty="0">
              <a:latin typeface="Times New Roman" panose="02020603050405020304" pitchFamily="18" charset="0"/>
              <a:cs typeface="Times New Roman" panose="02020603050405020304" pitchFamily="18" charset="0"/>
            </a:endParaRPr>
          </a:p>
          <a:p>
            <a:pPr>
              <a:lnSpc>
                <a:spcPct val="130000"/>
              </a:lnSpc>
            </a:pPr>
            <a:r>
              <a:rPr lang="en-US" sz="6000" b="1" dirty="0">
                <a:latin typeface="Times New Roman" panose="02020603050405020304" pitchFamily="18" charset="0"/>
                <a:cs typeface="Times New Roman" panose="02020603050405020304" pitchFamily="18" charset="0"/>
              </a:rPr>
              <a:t>NFT MARKETPLACE TRÊN NỀN TẢNG BLOCKCHAIN</a:t>
            </a:r>
            <a:endParaRPr lang="en-US" sz="6000" b="1" dirty="0">
              <a:latin typeface="Times New Roman" panose="02020603050405020304" pitchFamily="18" charset="0"/>
              <a:ea typeface="Arial Unicode Bold"/>
              <a:cs typeface="Times New Roman" panose="02020603050405020304" pitchFamily="18" charset="0"/>
              <a:sym typeface="Arial Unicode Bold"/>
            </a:endParaRPr>
          </a:p>
        </p:txBody>
      </p:sp>
      <p:sp>
        <p:nvSpPr>
          <p:cNvPr id="6" name="Rectangle 5"/>
          <p:cNvSpPr/>
          <p:nvPr/>
        </p:nvSpPr>
        <p:spPr>
          <a:xfrm>
            <a:off x="4801010" y="9137833"/>
            <a:ext cx="19256188" cy="59307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3600" b="1" dirty="0">
                <a:latin typeface="Arial" panose="020B0604020202020204" pitchFamily="34" charset="0"/>
                <a:cs typeface="Arial" panose="020B0604020202020204" pitchFamily="34" charset="0"/>
              </a:rPr>
              <a:t>Đỗ Bảo Long - 1671020183</a:t>
            </a:r>
            <a:endParaRPr lang="en-US" sz="3600" b="1" dirty="0">
              <a:latin typeface="Arial" panose="020B0604020202020204" pitchFamily="34" charset="0"/>
              <a:cs typeface="Arial" panose="020B0604020202020204" pitchFamily="34" charset="0"/>
            </a:endParaRPr>
          </a:p>
        </p:txBody>
      </p:sp>
      <p:sp>
        <p:nvSpPr>
          <p:cNvPr id="7" name="Rectangle 6"/>
          <p:cNvSpPr/>
          <p:nvPr/>
        </p:nvSpPr>
        <p:spPr>
          <a:xfrm>
            <a:off x="4831460" y="9137681"/>
            <a:ext cx="19256188" cy="19685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3200" i="1" dirty="0" err="1">
                <a:latin typeface="Arial" panose="020B0604020202020204" pitchFamily="34" charset="0"/>
                <a:cs typeface="Arial" panose="020B0604020202020204" pitchFamily="34" charset="0"/>
              </a:rPr>
              <a:t>Dainam</a:t>
            </a:r>
            <a:r>
              <a:rPr lang="en-US" sz="3200" i="1" dirty="0">
                <a:latin typeface="Arial" panose="020B0604020202020204" pitchFamily="34" charset="0"/>
                <a:cs typeface="Arial" panose="020B0604020202020204" pitchFamily="34" charset="0"/>
              </a:rPr>
              <a:t> University, Hanoi, Vietnam</a:t>
            </a:r>
            <a:endParaRPr lang="en-US" sz="3200" i="1" dirty="0">
              <a:latin typeface="Arial" panose="020B0604020202020204" pitchFamily="34" charset="0"/>
              <a:cs typeface="Arial" panose="020B0604020202020204" pitchFamily="34" charset="0"/>
            </a:endParaRPr>
          </a:p>
        </p:txBody>
      </p:sp>
      <p:sp>
        <p:nvSpPr>
          <p:cNvPr id="16" name="Text Box 189"/>
          <p:cNvSpPr txBox="1">
            <a:spLocks noChangeArrowheads="1"/>
          </p:cNvSpPr>
          <p:nvPr/>
        </p:nvSpPr>
        <p:spPr bwMode="auto">
          <a:xfrm>
            <a:off x="510760" y="12738381"/>
            <a:ext cx="9074187" cy="7540781"/>
          </a:xfrm>
          <a:prstGeom prst="rect">
            <a:avLst/>
          </a:prstGeom>
          <a:solidFill>
            <a:schemeClr val="bg1"/>
          </a:solidFill>
          <a:ln w="57150">
            <a:solidFill>
              <a:srgbClr val="233F99"/>
            </a:solidFill>
          </a:ln>
          <a:effectLst/>
        </p:spPr>
        <p:txBody>
          <a:bodyPr wrap="square"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marL="457200" indent="-457200" algn="just">
              <a:lnSpc>
                <a:spcPct val="110000"/>
              </a:lnSpc>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Thị tr</a:t>
            </a:r>
            <a:r>
              <a:rPr lang="en-US" altLang="en-US" sz="3200" dirty="0">
                <a:latin typeface="Arial" panose="020B0604020202020204" pitchFamily="34" charset="0"/>
                <a:cs typeface="Arial" panose="020B0604020202020204" pitchFamily="34" charset="0"/>
              </a:rPr>
              <a:t>ư</a:t>
            </a:r>
            <a:r>
              <a:rPr lang="en-US" altLang="en-US" sz="3200" dirty="0">
                <a:latin typeface="Arial" panose="020B0604020202020204" pitchFamily="34" charset="0"/>
                <a:cs typeface="Arial" panose="020B0604020202020204" pitchFamily="34" charset="0"/>
              </a:rPr>
              <a:t>ờng NFT bùng nổ nh</a:t>
            </a:r>
            <a:r>
              <a:rPr lang="en-US" altLang="en-US" sz="3200" dirty="0">
                <a:latin typeface="Arial" panose="020B0604020202020204" pitchFamily="34" charset="0"/>
                <a:cs typeface="Arial" panose="020B0604020202020204" pitchFamily="34" charset="0"/>
              </a:rPr>
              <a:t>ư</a:t>
            </a:r>
            <a:r>
              <a:rPr lang="en-US" altLang="en-US" sz="3200" dirty="0">
                <a:latin typeface="Arial" panose="020B0604020202020204" pitchFamily="34" charset="0"/>
                <a:cs typeface="Arial" panose="020B0604020202020204" pitchFamily="34" charset="0"/>
              </a:rPr>
              <a:t>ng các sàn giao dịch hiện tại (OpenSea, Magic Eden) chỉ hoạt </a:t>
            </a: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ộng trên một blockchain duy nhất, tạo rào cản lớn khi ng</a:t>
            </a:r>
            <a:r>
              <a:rPr lang="en-US" altLang="en-US" sz="3200" dirty="0">
                <a:latin typeface="Arial" panose="020B0604020202020204" pitchFamily="34" charset="0"/>
                <a:cs typeface="Arial" panose="020B0604020202020204" pitchFamily="34" charset="0"/>
              </a:rPr>
              <a:t>ư</a:t>
            </a:r>
            <a:r>
              <a:rPr lang="en-US" altLang="en-US" sz="3200" dirty="0">
                <a:latin typeface="Arial" panose="020B0604020202020204" pitchFamily="34" charset="0"/>
                <a:cs typeface="Arial" panose="020B0604020202020204" pitchFamily="34" charset="0"/>
              </a:rPr>
              <a:t>ời dùng muốn giao dịch tài sản xuyên chuỗi — </a:t>
            </a: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ây là khoảng trống thực tiễn cần </a:t>
            </a:r>
            <a:r>
              <a:rPr lang="en-US" altLang="en-US" sz="3200" dirty="0">
                <a:latin typeface="Arial" panose="020B0604020202020204" pitchFamily="34" charset="0"/>
                <a:cs typeface="Arial" panose="020B0604020202020204" pitchFamily="34" charset="0"/>
              </a:rPr>
              <a:t>đư</a:t>
            </a:r>
            <a:r>
              <a:rPr lang="en-US" altLang="en-US" sz="3200" dirty="0">
                <a:latin typeface="Arial" panose="020B0604020202020204" pitchFamily="34" charset="0"/>
                <a:cs typeface="Arial" panose="020B0604020202020204" pitchFamily="34" charset="0"/>
              </a:rPr>
              <a:t>ợc giải quyết.</a:t>
            </a:r>
            <a:endParaRPr lang="en-US" altLang="en-US" sz="3200" dirty="0">
              <a:latin typeface="Arial" panose="020B0604020202020204" pitchFamily="34" charset="0"/>
              <a:cs typeface="Arial" panose="020B0604020202020204" pitchFamily="34" charset="0"/>
            </a:endParaRPr>
          </a:p>
          <a:p>
            <a:pPr marL="457200" indent="-457200" algn="just">
              <a:lnSpc>
                <a:spcPct val="110000"/>
              </a:lnSpc>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ề tài h</a:t>
            </a:r>
            <a:r>
              <a:rPr lang="en-US" altLang="en-US" sz="3200" dirty="0">
                <a:latin typeface="Arial" panose="020B0604020202020204" pitchFamily="34" charset="0"/>
                <a:cs typeface="Arial" panose="020B0604020202020204" pitchFamily="34" charset="0"/>
              </a:rPr>
              <a:t>ư</a:t>
            </a:r>
            <a:r>
              <a:rPr lang="en-US" altLang="en-US" sz="3200" dirty="0">
                <a:latin typeface="Arial" panose="020B0604020202020204" pitchFamily="34" charset="0"/>
                <a:cs typeface="Arial" panose="020B0604020202020204" pitchFamily="34" charset="0"/>
              </a:rPr>
              <a:t>ớng </a:t>
            </a: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ến xây dựng NFT Marketplace </a:t>
            </a: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a chuỗi (Multichain) cho phép giao dịch liền mạch giữa Solana và Polygon trên một giao diện thống nhất, tích hợp Cross-chain Bridge, Unified Wallet và </a:t>
            </a: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ầy </a:t>
            </a: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ủ tính n</a:t>
            </a:r>
            <a:r>
              <a:rPr lang="en-US" altLang="en-US" sz="3200" dirty="0">
                <a:latin typeface="Arial" panose="020B0604020202020204" pitchFamily="34" charset="0"/>
                <a:cs typeface="Arial" panose="020B0604020202020204" pitchFamily="34" charset="0"/>
              </a:rPr>
              <a:t>ă</a:t>
            </a:r>
            <a:r>
              <a:rPr lang="en-US" altLang="en-US" sz="3200" dirty="0">
                <a:latin typeface="Arial" panose="020B0604020202020204" pitchFamily="34" charset="0"/>
                <a:cs typeface="Arial" panose="020B0604020202020204" pitchFamily="34" charset="0"/>
              </a:rPr>
              <a:t>ng Mint, Buy/Sell, </a:t>
            </a:r>
            <a:r>
              <a:rPr lang="en-US" altLang="en-US" sz="3200" dirty="0">
                <a:latin typeface="Arial" panose="020B0604020202020204" pitchFamily="34" charset="0"/>
                <a:cs typeface="Arial" panose="020B0604020202020204" pitchFamily="34" charset="0"/>
              </a:rPr>
              <a:t>Đ</a:t>
            </a:r>
            <a:r>
              <a:rPr lang="en-US" altLang="en-US" sz="3200" dirty="0">
                <a:latin typeface="Arial" panose="020B0604020202020204" pitchFamily="34" charset="0"/>
                <a:cs typeface="Arial" panose="020B0604020202020204" pitchFamily="34" charset="0"/>
              </a:rPr>
              <a:t>ấu giá.</a:t>
            </a:r>
            <a:endParaRPr lang="en-US" altLang="en-US" sz="3200" dirty="0">
              <a:latin typeface="Arial" panose="020B0604020202020204" pitchFamily="34" charset="0"/>
              <a:cs typeface="Arial" panose="020B0604020202020204" pitchFamily="34" charset="0"/>
            </a:endParaRPr>
          </a:p>
        </p:txBody>
      </p:sp>
      <p:sp>
        <p:nvSpPr>
          <p:cNvPr id="17" name="Rectangle 16"/>
          <p:cNvSpPr/>
          <p:nvPr/>
        </p:nvSpPr>
        <p:spPr>
          <a:xfrm>
            <a:off x="510761" y="11659755"/>
            <a:ext cx="9074187" cy="964611"/>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err="1">
                <a:solidFill>
                  <a:schemeClr val="bg1"/>
                </a:solidFill>
                <a:latin typeface="Arial" panose="020B0604020202020204" pitchFamily="34" charset="0"/>
                <a:cs typeface="Arial" panose="020B0604020202020204" pitchFamily="34" charset="0"/>
              </a:rPr>
              <a:t>Giới</a:t>
            </a:r>
            <a:r>
              <a:rPr lang="en-US" sz="5400" b="1" dirty="0">
                <a:solidFill>
                  <a:schemeClr val="bg1"/>
                </a:solidFill>
                <a:latin typeface="Arial" panose="020B0604020202020204" pitchFamily="34" charset="0"/>
                <a:cs typeface="Arial" panose="020B0604020202020204" pitchFamily="34" charset="0"/>
              </a:rPr>
              <a:t> </a:t>
            </a:r>
            <a:r>
              <a:rPr lang="en-US" sz="5400" b="1" dirty="0" err="1">
                <a:solidFill>
                  <a:schemeClr val="bg1"/>
                </a:solidFill>
                <a:latin typeface="Arial" panose="020B0604020202020204" pitchFamily="34" charset="0"/>
                <a:cs typeface="Arial" panose="020B0604020202020204" pitchFamily="34" charset="0"/>
              </a:rPr>
              <a:t>thiệu</a:t>
            </a:r>
            <a:endParaRPr lang="en-US" sz="5400" b="1" dirty="0">
              <a:solidFill>
                <a:schemeClr val="bg1"/>
              </a:solidFill>
              <a:latin typeface="Arial" panose="020B0604020202020204" pitchFamily="34" charset="0"/>
              <a:cs typeface="Arial" panose="020B0604020202020204" pitchFamily="34" charset="0"/>
            </a:endParaRPr>
          </a:p>
        </p:txBody>
      </p:sp>
      <p:sp>
        <p:nvSpPr>
          <p:cNvPr id="18" name="Text Box 194"/>
          <p:cNvSpPr txBox="1">
            <a:spLocks noChangeArrowheads="1"/>
          </p:cNvSpPr>
          <p:nvPr/>
        </p:nvSpPr>
        <p:spPr bwMode="auto">
          <a:xfrm>
            <a:off x="510540" y="21837015"/>
            <a:ext cx="13597255" cy="6541135"/>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marL="514350" indent="-514350" algn="l" eaLnBrk="1" hangingPunct="1">
              <a:buAutoNum type="arabicPeriod"/>
            </a:pPr>
            <a:r>
              <a:rPr lang="en-US" sz="3000" b="1" dirty="0">
                <a:solidFill>
                  <a:schemeClr val="tx1"/>
                </a:solidFill>
                <a:ea typeface="Calibri" panose="020F0502020204030204" pitchFamily="34" charset="-122"/>
                <a:cs typeface="Arial" panose="020B0604020202020204" pitchFamily="34" charset="0"/>
                <a:sym typeface="+mn-ea"/>
              </a:rPr>
              <a:t>Mint NFT: </a:t>
            </a:r>
            <a:r>
              <a:rPr lang="en-US" sz="3000" dirty="0">
                <a:solidFill>
                  <a:schemeClr val="tx1"/>
                </a:solidFill>
                <a:ea typeface="Calibri" panose="020F0502020204030204" pitchFamily="34" charset="-122"/>
                <a:cs typeface="Arial" panose="020B0604020202020204" pitchFamily="34" charset="0"/>
                <a:sym typeface="+mn-ea"/>
              </a:rPr>
              <a:t>Tạo NFT trên Solana (SPL Token) hoặc Polygon (Solidity ERC-721). Upload ảnh Cloudinary, metadata lưu Supabase.</a:t>
            </a:r>
            <a:endParaRPr lang="en-US" sz="3000" dirty="0">
              <a:solidFill>
                <a:schemeClr val="tx1"/>
              </a:solidFill>
              <a:cs typeface="Arial" panose="020B0604020202020204" pitchFamily="34" charset="0"/>
            </a:endParaRPr>
          </a:p>
          <a:p>
            <a:pPr marL="514350" indent="-514350" algn="l" eaLnBrk="1" hangingPunct="1">
              <a:buAutoNum type="arabicPeriod"/>
            </a:pPr>
            <a:r>
              <a:rPr lang="en-US" sz="3000" b="1" dirty="0">
                <a:solidFill>
                  <a:schemeClr val="tx1"/>
                </a:solidFill>
                <a:ea typeface="Calibri" panose="020F0502020204030204" pitchFamily="34" charset="-122"/>
                <a:cs typeface="Arial" panose="020B0604020202020204" pitchFamily="34" charset="0"/>
                <a:sym typeface="+mn-ea"/>
              </a:rPr>
              <a:t>Buy / Sell NFT: </a:t>
            </a:r>
            <a:r>
              <a:rPr lang="en-US" sz="3000" dirty="0">
                <a:solidFill>
                  <a:schemeClr val="tx1"/>
                </a:solidFill>
                <a:ea typeface="Calibri" panose="020F0502020204030204" pitchFamily="34" charset="-122"/>
                <a:cs typeface="Arial" panose="020B0604020202020204" pitchFamily="34" charset="0"/>
                <a:sym typeface="+mn-ea"/>
              </a:rPr>
              <a:t>Niêm yết và mua bán bằng native token SOL hoặc POL. Smart Contract escrow đảm bảo an toàn giao dịch.</a:t>
            </a:r>
            <a:endParaRPr lang="en-US" sz="3000" dirty="0">
              <a:solidFill>
                <a:schemeClr val="tx1"/>
              </a:solidFill>
              <a:cs typeface="Arial" panose="020B0604020202020204" pitchFamily="34" charset="0"/>
            </a:endParaRPr>
          </a:p>
          <a:p>
            <a:pPr marL="514350" indent="-514350" algn="l" eaLnBrk="1" hangingPunct="1">
              <a:buAutoNum type="arabicPeriod"/>
            </a:pPr>
            <a:r>
              <a:rPr lang="en-US" sz="3000" b="1" dirty="0">
                <a:solidFill>
                  <a:schemeClr val="tx1"/>
                </a:solidFill>
                <a:ea typeface="Calibri" panose="020F0502020204030204" pitchFamily="34" charset="-122"/>
                <a:cs typeface="Arial" panose="020B0604020202020204" pitchFamily="34" charset="0"/>
                <a:sym typeface="+mn-ea"/>
              </a:rPr>
              <a:t>Đấu giá Realtime: </a:t>
            </a:r>
            <a:r>
              <a:rPr lang="en-US" sz="3000" dirty="0">
                <a:solidFill>
                  <a:schemeClr val="tx1"/>
                </a:solidFill>
                <a:ea typeface="Calibri" panose="020F0502020204030204" pitchFamily="34" charset="-122"/>
                <a:cs typeface="Arial" panose="020B0604020202020204" pitchFamily="34" charset="0"/>
                <a:sym typeface="+mn-ea"/>
              </a:rPr>
              <a:t>Auction với bước giá tự động, đồng hồ đếm ngược realtime. Tự động chuyển NFT khi đấu giá kết thúc.</a:t>
            </a:r>
            <a:endParaRPr lang="en-US" sz="3000" dirty="0">
              <a:solidFill>
                <a:schemeClr val="tx1"/>
              </a:solidFill>
              <a:cs typeface="Arial" panose="020B0604020202020204" pitchFamily="34" charset="0"/>
            </a:endParaRPr>
          </a:p>
          <a:p>
            <a:pPr marL="514350" indent="-514350" algn="l" eaLnBrk="1" hangingPunct="1">
              <a:buAutoNum type="arabicPeriod"/>
            </a:pPr>
            <a:r>
              <a:rPr lang="en-US" sz="3000" b="1" dirty="0">
                <a:solidFill>
                  <a:schemeClr val="tx1"/>
                </a:solidFill>
                <a:ea typeface="Calibri" panose="020F0502020204030204" pitchFamily="34" charset="-122"/>
                <a:cs typeface="Arial" panose="020B0604020202020204" pitchFamily="34" charset="0"/>
                <a:sym typeface="+mn-ea"/>
              </a:rPr>
              <a:t>Collection &amp; Offer: </a:t>
            </a:r>
            <a:r>
              <a:rPr lang="en-US" sz="3000" dirty="0">
                <a:solidFill>
                  <a:schemeClr val="tx1"/>
                </a:solidFill>
                <a:ea typeface="Calibri" panose="020F0502020204030204" pitchFamily="34" charset="-122"/>
                <a:cs typeface="Arial" panose="020B0604020202020204" pitchFamily="34" charset="0"/>
                <a:sym typeface="+mn-ea"/>
              </a:rPr>
              <a:t>Giao dịch cả bộ sưu tập, đặt giá Offer cho NFT chưa bán. Watchlist theo dõi tài sản yêu thích.</a:t>
            </a:r>
            <a:endParaRPr lang="en-US" sz="3000" dirty="0">
              <a:solidFill>
                <a:schemeClr val="tx1"/>
              </a:solidFill>
              <a:cs typeface="Arial" panose="020B0604020202020204" pitchFamily="34" charset="0"/>
            </a:endParaRPr>
          </a:p>
          <a:p>
            <a:pPr marL="514350" indent="-514350" algn="l" eaLnBrk="1" hangingPunct="1">
              <a:buAutoNum type="arabicPeriod"/>
            </a:pPr>
            <a:r>
              <a:rPr lang="en-US" sz="3000" b="1" dirty="0">
                <a:solidFill>
                  <a:schemeClr val="tx1"/>
                </a:solidFill>
                <a:ea typeface="Calibri" panose="020F0502020204030204" pitchFamily="34" charset="-122"/>
                <a:cs typeface="Arial" panose="020B0604020202020204" pitchFamily="34" charset="0"/>
                <a:sym typeface="+mn-ea"/>
              </a:rPr>
              <a:t>Thống kê &amp; Biểu đồ: </a:t>
            </a:r>
            <a:r>
              <a:rPr lang="en-US" sz="3000" dirty="0">
                <a:solidFill>
                  <a:schemeClr val="tx1"/>
                </a:solidFill>
                <a:ea typeface="Calibri" panose="020F0502020204030204" pitchFamily="34" charset="-122"/>
                <a:cs typeface="Arial" panose="020B0604020202020204" pitchFamily="34" charset="0"/>
                <a:sym typeface="+mn-ea"/>
              </a:rPr>
              <a:t>Biểu đồ giá lịch sử, volume giao dịch, ranking Collection. Dashboard portfolio cá nhân hóa.</a:t>
            </a:r>
            <a:endParaRPr lang="en-US" sz="3000" b="1" dirty="0">
              <a:solidFill>
                <a:schemeClr val="tx1"/>
              </a:solidFill>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a:p>
            <a:pP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p:txBody>
      </p:sp>
      <p:sp>
        <p:nvSpPr>
          <p:cNvPr id="19" name="Rectangle 18"/>
          <p:cNvSpPr/>
          <p:nvPr/>
        </p:nvSpPr>
        <p:spPr>
          <a:xfrm>
            <a:off x="511175" y="28768675"/>
            <a:ext cx="27870150" cy="1007110"/>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err="1">
                <a:solidFill>
                  <a:schemeClr val="bg1"/>
                </a:solidFill>
                <a:latin typeface="Arial" panose="020B0604020202020204" pitchFamily="34" charset="0"/>
                <a:cs typeface="Arial" panose="020B0604020202020204" pitchFamily="34" charset="0"/>
              </a:rPr>
              <a:t>Kết</a:t>
            </a:r>
            <a:r>
              <a:rPr lang="en-US" sz="5400" b="1" dirty="0">
                <a:solidFill>
                  <a:schemeClr val="bg1"/>
                </a:solidFill>
                <a:latin typeface="Arial" panose="020B0604020202020204" pitchFamily="34" charset="0"/>
                <a:cs typeface="Arial" panose="020B0604020202020204" pitchFamily="34" charset="0"/>
              </a:rPr>
              <a:t> </a:t>
            </a:r>
            <a:r>
              <a:rPr lang="en-US" sz="5400" b="1" dirty="0" err="1">
                <a:solidFill>
                  <a:schemeClr val="bg1"/>
                </a:solidFill>
                <a:latin typeface="Arial" panose="020B0604020202020204" pitchFamily="34" charset="0"/>
                <a:cs typeface="Arial" panose="020B0604020202020204" pitchFamily="34" charset="0"/>
              </a:rPr>
              <a:t>quả</a:t>
            </a:r>
            <a:endParaRPr lang="en-US" sz="5400" b="1" dirty="0">
              <a:solidFill>
                <a:schemeClr val="bg1"/>
              </a:solidFill>
              <a:latin typeface="Arial" panose="020B0604020202020204" pitchFamily="34" charset="0"/>
              <a:cs typeface="Arial" panose="020B0604020202020204" pitchFamily="34" charset="0"/>
            </a:endParaRPr>
          </a:p>
        </p:txBody>
      </p:sp>
      <p:sp>
        <p:nvSpPr>
          <p:cNvPr id="20" name="Text Box 191"/>
          <p:cNvSpPr txBox="1">
            <a:spLocks noChangeArrowheads="1"/>
          </p:cNvSpPr>
          <p:nvPr/>
        </p:nvSpPr>
        <p:spPr bwMode="auto">
          <a:xfrm>
            <a:off x="511175" y="30031055"/>
            <a:ext cx="27870785" cy="10425430"/>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a:p>
            <a:pPr algn="ctr" eaLnBrk="1" hangingPunct="1"/>
            <a:endParaRPr lang="en-US" sz="3000" b="1" dirty="0">
              <a:latin typeface="Arial" panose="020B0604020202020204" pitchFamily="34" charset="0"/>
              <a:cs typeface="Arial" panose="020B0604020202020204" pitchFamily="34" charset="0"/>
            </a:endParaRPr>
          </a:p>
        </p:txBody>
      </p:sp>
      <p:sp>
        <p:nvSpPr>
          <p:cNvPr id="21" name="Rectangle 20"/>
          <p:cNvSpPr/>
          <p:nvPr/>
        </p:nvSpPr>
        <p:spPr>
          <a:xfrm>
            <a:off x="10045022" y="11665207"/>
            <a:ext cx="18335070" cy="1002860"/>
          </a:xfrm>
          <a:prstGeom prst="rect">
            <a:avLst/>
          </a:prstGeom>
          <a:solidFill>
            <a:srgbClr val="233F99"/>
          </a:solidFill>
          <a:ln w="57150">
            <a:solidFill>
              <a:srgbClr val="233F99"/>
            </a:solid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err="1">
                <a:solidFill>
                  <a:schemeClr val="bg1"/>
                </a:solidFill>
                <a:latin typeface="Arial" panose="020B0604020202020204" pitchFamily="34" charset="0"/>
                <a:ea typeface="Calibri" panose="020F0502020204030204" pitchFamily="34" charset="0"/>
                <a:cs typeface="Arial" panose="020B0604020202020204" pitchFamily="34" charset="0"/>
              </a:rPr>
              <a:t>Sơ</a:t>
            </a:r>
            <a:r>
              <a:rPr lang="en-US" sz="5400" b="1"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US" sz="5400" b="1" dirty="0" err="1">
                <a:solidFill>
                  <a:schemeClr val="bg1"/>
                </a:solidFill>
                <a:latin typeface="Arial" panose="020B0604020202020204" pitchFamily="34" charset="0"/>
                <a:ea typeface="Calibri" panose="020F0502020204030204" pitchFamily="34" charset="0"/>
                <a:cs typeface="Arial" panose="020B0604020202020204" pitchFamily="34" charset="0"/>
              </a:rPr>
              <a:t>đồ</a:t>
            </a:r>
            <a:r>
              <a:rPr lang="en-US" sz="5400" b="1"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US" sz="5400" b="1" dirty="0" err="1">
                <a:solidFill>
                  <a:schemeClr val="bg1"/>
                </a:solidFill>
                <a:latin typeface="Arial" panose="020B0604020202020204" pitchFamily="34" charset="0"/>
                <a:ea typeface="Calibri" panose="020F0502020204030204" pitchFamily="34" charset="0"/>
                <a:cs typeface="Arial" panose="020B0604020202020204" pitchFamily="34" charset="0"/>
              </a:rPr>
              <a:t>hệ</a:t>
            </a:r>
            <a:r>
              <a:rPr lang="en-US" sz="5400" b="1"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US" sz="5400" b="1" dirty="0" err="1">
                <a:solidFill>
                  <a:schemeClr val="bg1"/>
                </a:solidFill>
                <a:latin typeface="Arial" panose="020B0604020202020204" pitchFamily="34" charset="0"/>
                <a:ea typeface="Calibri" panose="020F0502020204030204" pitchFamily="34" charset="0"/>
                <a:cs typeface="Arial" panose="020B0604020202020204" pitchFamily="34" charset="0"/>
              </a:rPr>
              <a:t>thống</a:t>
            </a:r>
            <a:endParaRPr lang="en-US" sz="5400" b="1" dirty="0">
              <a:solidFill>
                <a:schemeClr val="bg1"/>
              </a:solidFill>
              <a:latin typeface="Arial" panose="020B0604020202020204" pitchFamily="34" charset="0"/>
              <a:ea typeface="Calibri" panose="020F0502020204030204" pitchFamily="34" charset="0"/>
              <a:cs typeface="Arial" panose="020B0604020202020204" pitchFamily="34" charset="0"/>
            </a:endParaRPr>
          </a:p>
        </p:txBody>
      </p:sp>
      <p:sp>
        <p:nvSpPr>
          <p:cNvPr id="22" name="Text Box 190"/>
          <p:cNvSpPr txBox="1">
            <a:spLocks noChangeArrowheads="1"/>
          </p:cNvSpPr>
          <p:nvPr/>
        </p:nvSpPr>
        <p:spPr bwMode="auto">
          <a:xfrm>
            <a:off x="14402435" y="21837015"/>
            <a:ext cx="13978890" cy="6541135"/>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algn="ctr" eaLnBrk="1" hangingPunct="1"/>
            <a:r>
              <a:rPr lang="en-US"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marL="1200150" lvl="1" indent="-457200" eaLnBrk="1" hangingPunct="1">
              <a:buFont typeface="Arial" panose="020B0604020202020204" pitchFamily="34" charset="0"/>
              <a:buChar char="•"/>
            </a:pPr>
            <a:endParaRPr lang="en-US" sz="3000" b="1" dirty="0">
              <a:latin typeface="Arial" panose="020B0604020202020204" pitchFamily="34" charset="0"/>
              <a:cs typeface="Arial" panose="020B0604020202020204" pitchFamily="34" charset="0"/>
            </a:endParaRPr>
          </a:p>
          <a:p>
            <a:pPr eaLnBrk="1" hangingPunct="1"/>
            <a:endParaRPr lang="en-US" sz="3000" dirty="0">
              <a:latin typeface="Arial" panose="020B0604020202020204" pitchFamily="34" charset="0"/>
              <a:cs typeface="Arial" panose="020B0604020202020204" pitchFamily="34" charset="0"/>
            </a:endParaRPr>
          </a:p>
        </p:txBody>
      </p:sp>
      <p:sp>
        <p:nvSpPr>
          <p:cNvPr id="23" name="Rectangle 22"/>
          <p:cNvSpPr/>
          <p:nvPr/>
        </p:nvSpPr>
        <p:spPr>
          <a:xfrm>
            <a:off x="510540" y="20625435"/>
            <a:ext cx="13597255" cy="947420"/>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err="1">
                <a:solidFill>
                  <a:schemeClr val="bg1"/>
                </a:solidFill>
                <a:latin typeface="Arial" panose="020B0604020202020204" pitchFamily="34" charset="0"/>
                <a:cs typeface="Arial" panose="020B0604020202020204" pitchFamily="34" charset="0"/>
              </a:rPr>
              <a:t>Tính năng nổi bật</a:t>
            </a:r>
            <a:endParaRPr lang="en-US" sz="5400" b="1" dirty="0">
              <a:solidFill>
                <a:schemeClr val="bg1"/>
              </a:solidFill>
              <a:latin typeface="Arial" panose="020B0604020202020204" pitchFamily="34" charset="0"/>
              <a:cs typeface="Arial" panose="020B0604020202020204" pitchFamily="34" charset="0"/>
            </a:endParaRPr>
          </a:p>
        </p:txBody>
      </p:sp>
      <p:sp>
        <p:nvSpPr>
          <p:cNvPr id="49" name="Rectangle 48"/>
          <p:cNvSpPr/>
          <p:nvPr/>
        </p:nvSpPr>
        <p:spPr>
          <a:xfrm>
            <a:off x="510540" y="40696515"/>
            <a:ext cx="27870785" cy="958850"/>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Arial" panose="020B0604020202020204" pitchFamily="34" charset="0"/>
                <a:cs typeface="Arial" panose="020B0604020202020204" pitchFamily="34" charset="0"/>
              </a:rPr>
              <a:t>Kết luận và </a:t>
            </a:r>
            <a:r>
              <a:rPr lang="en-US" sz="5400" b="1" dirty="0">
                <a:solidFill>
                  <a:schemeClr val="bg1"/>
                </a:solidFill>
                <a:latin typeface="Arial" panose="020B0604020202020204" pitchFamily="34" charset="0"/>
                <a:cs typeface="Arial" panose="020B0604020202020204" pitchFamily="34" charset="0"/>
              </a:rPr>
              <a:t>h</a:t>
            </a:r>
            <a:r>
              <a:rPr lang="vi-VN" sz="5400" b="1" dirty="0">
                <a:solidFill>
                  <a:schemeClr val="bg1"/>
                </a:solidFill>
                <a:latin typeface="Arial" panose="020B0604020202020204" pitchFamily="34" charset="0"/>
                <a:cs typeface="Arial" panose="020B0604020202020204" pitchFamily="34" charset="0"/>
              </a:rPr>
              <a:t>ư</a:t>
            </a:r>
            <a:r>
              <a:rPr lang="en-US" sz="5400" b="1" dirty="0" err="1">
                <a:solidFill>
                  <a:schemeClr val="bg1"/>
                </a:solidFill>
                <a:latin typeface="Arial" panose="020B0604020202020204" pitchFamily="34" charset="0"/>
                <a:cs typeface="Arial" panose="020B0604020202020204" pitchFamily="34" charset="0"/>
              </a:rPr>
              <a:t>ớng</a:t>
            </a:r>
            <a:r>
              <a:rPr lang="en-US" sz="5400" b="1" dirty="0">
                <a:solidFill>
                  <a:schemeClr val="bg1"/>
                </a:solidFill>
                <a:latin typeface="Arial" panose="020B0604020202020204" pitchFamily="34" charset="0"/>
                <a:cs typeface="Arial" panose="020B0604020202020204" pitchFamily="34" charset="0"/>
              </a:rPr>
              <a:t> </a:t>
            </a:r>
            <a:r>
              <a:rPr lang="en-US" sz="5400" b="1" dirty="0" err="1">
                <a:solidFill>
                  <a:schemeClr val="bg1"/>
                </a:solidFill>
                <a:latin typeface="Arial" panose="020B0604020202020204" pitchFamily="34" charset="0"/>
                <a:cs typeface="Arial" panose="020B0604020202020204" pitchFamily="34" charset="0"/>
              </a:rPr>
              <a:t>phát</a:t>
            </a:r>
            <a:r>
              <a:rPr lang="en-US" sz="5400" b="1" dirty="0">
                <a:solidFill>
                  <a:schemeClr val="bg1"/>
                </a:solidFill>
                <a:latin typeface="Arial" panose="020B0604020202020204" pitchFamily="34" charset="0"/>
                <a:cs typeface="Arial" panose="020B0604020202020204" pitchFamily="34" charset="0"/>
              </a:rPr>
              <a:t> </a:t>
            </a:r>
            <a:r>
              <a:rPr lang="en-US" sz="5400" b="1" dirty="0" err="1">
                <a:solidFill>
                  <a:schemeClr val="bg1"/>
                </a:solidFill>
                <a:latin typeface="Arial" panose="020B0604020202020204" pitchFamily="34" charset="0"/>
                <a:cs typeface="Arial" panose="020B0604020202020204" pitchFamily="34" charset="0"/>
              </a:rPr>
              <a:t>triển</a:t>
            </a:r>
            <a:endParaRPr lang="en-US" sz="5400" b="1" dirty="0">
              <a:solidFill>
                <a:schemeClr val="bg1"/>
              </a:solidFill>
              <a:latin typeface="Arial" panose="020B0604020202020204" pitchFamily="34" charset="0"/>
              <a:cs typeface="Arial" panose="020B0604020202020204" pitchFamily="34" charset="0"/>
            </a:endParaRPr>
          </a:p>
        </p:txBody>
      </p:sp>
      <p:sp>
        <p:nvSpPr>
          <p:cNvPr id="50" name="Text Box 194"/>
          <p:cNvSpPr txBox="1">
            <a:spLocks noChangeArrowheads="1"/>
          </p:cNvSpPr>
          <p:nvPr/>
        </p:nvSpPr>
        <p:spPr bwMode="auto">
          <a:xfrm>
            <a:off x="509905" y="41656000"/>
            <a:ext cx="27872690" cy="2548890"/>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sz="3200" b="1" dirty="0"/>
              <a:t>K</a:t>
            </a:r>
            <a:r>
              <a:rPr lang="vi-VN" sz="3200" b="1" dirty="0"/>
              <a:t>ết luận</a:t>
            </a:r>
            <a:r>
              <a:rPr lang="vi-VN" sz="3200" dirty="0"/>
              <a:t>: </a:t>
            </a:r>
            <a:r>
              <a:rPr lang="en-US" sz="3200" dirty="0">
                <a:solidFill>
                  <a:srgbClr val="111111"/>
                </a:solidFill>
                <a:ea typeface="Times New Roman" panose="02020603050405020304" pitchFamily="34" charset="-122"/>
                <a:cs typeface="Arial" panose="020B0604020202020204" pitchFamily="34" charset="0"/>
                <a:sym typeface="+mn-ea"/>
              </a:rPr>
              <a:t>Hệ thống NFT Marketplace đã được xây dựng thành công trên nền tảng Solana và Polygon với đầy đủ chức năng cốt lõi: mint, mua bán và đấu giá NFT. Smart Contract đảm bảo tính minh bạch, bất biến và tự động hóa toàn bộ luồng giao dịch mà không cần bên trung gian tin cậy.</a:t>
            </a:r>
            <a:endParaRPr lang="en-US" sz="3200" dirty="0"/>
          </a:p>
          <a:p>
            <a:r>
              <a:rPr lang="vi-VN" sz="3200" dirty="0"/>
              <a:t> </a:t>
            </a:r>
            <a:r>
              <a:rPr lang="vi-VN" sz="3200" b="1" dirty="0"/>
              <a:t>Hướng phát triển</a:t>
            </a:r>
            <a:r>
              <a:rPr lang="en-US" sz="3200" b="1" dirty="0"/>
              <a:t>: </a:t>
            </a:r>
            <a:r>
              <a:rPr lang="en-US" sz="3200" dirty="0">
                <a:solidFill>
                  <a:srgbClr val="111111"/>
                </a:solidFill>
                <a:ea typeface="Times New Roman" panose="02020603050405020304" pitchFamily="34" charset="-122"/>
                <a:cs typeface="Arial" panose="020B0604020202020204" pitchFamily="34" charset="0"/>
                <a:sym typeface="+mn-ea"/>
              </a:rPr>
              <a:t>Tích hợp Layer 2 (Optimism/Arbitrum) để giảm phí gas; hỗ trợ đa chuỗi (ETH, BNB, Polygon); thêm tính năng social (bình luận, follow tác giả); xây dựng ứng dụng di động React Native; triển khai DAO quản trị sàn phi tập trung.</a:t>
            </a:r>
            <a:endParaRPr lang="vi-VN" sz="3200" dirty="0">
              <a:cs typeface="Arial" panose="020B0604020202020204" pitchFamily="34" charset="0"/>
            </a:endParaRPr>
          </a:p>
        </p:txBody>
      </p:sp>
      <p:sp>
        <p:nvSpPr>
          <p:cNvPr id="2" name="Rectangle 1"/>
          <p:cNvSpPr/>
          <p:nvPr/>
        </p:nvSpPr>
        <p:spPr>
          <a:xfrm>
            <a:off x="14402435" y="20625435"/>
            <a:ext cx="13978255" cy="947420"/>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err="1">
                <a:solidFill>
                  <a:schemeClr val="bg1"/>
                </a:solidFill>
                <a:latin typeface="Arial" panose="020B0604020202020204" pitchFamily="34" charset="0"/>
                <a:ea typeface="Calibri" panose="020F0502020204030204" pitchFamily="34" charset="0"/>
                <a:cs typeface="Arial" panose="020B0604020202020204" pitchFamily="34" charset="0"/>
              </a:rPr>
              <a:t>Công nghệ sử dụng</a:t>
            </a:r>
            <a:endParaRPr lang="en-US" sz="5400" b="1" dirty="0">
              <a:solidFill>
                <a:schemeClr val="bg1"/>
              </a:solidFill>
              <a:latin typeface="Arial" panose="020B0604020202020204" pitchFamily="34" charset="0"/>
              <a:ea typeface="Calibri" panose="020F0502020204030204" pitchFamily="34" charset="0"/>
              <a:cs typeface="Arial" panose="020B0604020202020204" pitchFamily="34" charset="0"/>
            </a:endParaRPr>
          </a:p>
        </p:txBody>
      </p:sp>
      <p:sp>
        <p:nvSpPr>
          <p:cNvPr id="32" name="TextBox 31"/>
          <p:cNvSpPr txBox="1"/>
          <p:nvPr/>
        </p:nvSpPr>
        <p:spPr>
          <a:xfrm>
            <a:off x="8837570" y="10447245"/>
            <a:ext cx="11282680" cy="645160"/>
          </a:xfrm>
          <a:prstGeom prst="rect">
            <a:avLst/>
          </a:prstGeom>
          <a:noFill/>
        </p:spPr>
        <p:txBody>
          <a:bodyPr wrap="none" rtlCol="0">
            <a:spAutoFit/>
          </a:bodyPr>
          <a:lstStyle/>
          <a:p>
            <a:pPr algn="l"/>
            <a:r>
              <a:rPr lang="en-US" sz="3600" b="1" dirty="0" err="1">
                <a:latin typeface="Arial" panose="020B0604020202020204" pitchFamily="34" charset="0"/>
                <a:cs typeface="Arial" panose="020B0604020202020204" pitchFamily="34" charset="0"/>
              </a:rPr>
              <a:t>Github</a:t>
            </a:r>
            <a:r>
              <a:rPr lang="en-US" sz="3600" b="1" dirty="0">
                <a:latin typeface="Arial" panose="020B0604020202020204" pitchFamily="34" charset="0"/>
                <a:cs typeface="Arial" panose="020B0604020202020204" pitchFamily="34" charset="0"/>
              </a:rPr>
              <a:t>: </a:t>
            </a:r>
            <a:r>
              <a:rPr lang="en-US" altLang="en-US" sz="3600" dirty="0">
                <a:latin typeface="Arial" panose="020B0604020202020204" pitchFamily="34" charset="0"/>
                <a:cs typeface="Arial" panose="020B0604020202020204" pitchFamily="34" charset="0"/>
              </a:rPr>
              <a:t>https://github.com/rynxu2/NFT-Marketplace.git</a:t>
            </a:r>
            <a:endParaRPr lang="en-US" altLang="en-US" sz="3600" dirty="0">
              <a:latin typeface="Arial" panose="020B0604020202020204" pitchFamily="34" charset="0"/>
              <a:cs typeface="Arial" panose="020B0604020202020204" pitchFamily="34" charset="0"/>
            </a:endParaRPr>
          </a:p>
        </p:txBody>
      </p:sp>
      <p:pic>
        <p:nvPicPr>
          <p:cNvPr id="39" name="Picture 38"/>
          <p:cNvPicPr>
            <a:picLocks noChangeAspect="1"/>
          </p:cNvPicPr>
          <p:nvPr/>
        </p:nvPicPr>
        <p:blipFill>
          <a:blip r:embed="rId1"/>
          <a:stretch>
            <a:fillRect/>
          </a:stretch>
        </p:blipFill>
        <p:spPr>
          <a:xfrm>
            <a:off x="0" y="-5744"/>
            <a:ext cx="28803600" cy="6556531"/>
          </a:xfrm>
          <a:prstGeom prst="rect">
            <a:avLst/>
          </a:prstGeom>
        </p:spPr>
      </p:pic>
      <p:sp>
        <p:nvSpPr>
          <p:cNvPr id="40" name="TextBox 39"/>
          <p:cNvSpPr txBox="1"/>
          <p:nvPr/>
        </p:nvSpPr>
        <p:spPr>
          <a:xfrm>
            <a:off x="9373884" y="280631"/>
            <a:ext cx="9499332" cy="1569660"/>
          </a:xfrm>
          <a:prstGeom prst="rect">
            <a:avLst/>
          </a:prstGeom>
          <a:noFill/>
        </p:spPr>
        <p:txBody>
          <a:bodyPr wrap="none" rtlCol="0">
            <a:spAutoFit/>
          </a:bodyPr>
          <a:lstStyle/>
          <a:p>
            <a:pPr algn="ctr"/>
            <a:r>
              <a:rPr lang="en-US" sz="4800" b="1">
                <a:solidFill>
                  <a:schemeClr val="bg1"/>
                </a:solidFill>
                <a:latin typeface="Arial" panose="020B0604020202020204" pitchFamily="34" charset="0"/>
                <a:cs typeface="Arial" panose="020B0604020202020204" pitchFamily="34" charset="0"/>
              </a:rPr>
              <a:t>TRƯỜNG ĐẠI HỌC ĐẠI NAM</a:t>
            </a:r>
            <a:endParaRPr lang="en-US" sz="4800" b="1">
              <a:solidFill>
                <a:schemeClr val="bg1"/>
              </a:solidFill>
              <a:latin typeface="Arial" panose="020B0604020202020204" pitchFamily="34" charset="0"/>
              <a:cs typeface="Arial" panose="020B0604020202020204" pitchFamily="34" charset="0"/>
            </a:endParaRPr>
          </a:p>
          <a:p>
            <a:pPr algn="ctr"/>
            <a:r>
              <a:rPr lang="en-US" sz="4800" b="1">
                <a:solidFill>
                  <a:schemeClr val="bg1"/>
                </a:solidFill>
                <a:latin typeface="Arial" panose="020B0604020202020204" pitchFamily="34" charset="0"/>
                <a:cs typeface="Arial" panose="020B0604020202020204" pitchFamily="34" charset="0"/>
              </a:rPr>
              <a:t>KHOA CÔNG NGHỆ THÔNG TIN</a:t>
            </a:r>
            <a:endParaRPr lang="en-US" sz="4800" b="1">
              <a:solidFill>
                <a:schemeClr val="bg1"/>
              </a:solidFill>
              <a:latin typeface="Arial" panose="020B0604020202020204" pitchFamily="34" charset="0"/>
              <a:cs typeface="Arial" panose="020B0604020202020204" pitchFamily="34" charset="0"/>
            </a:endParaRPr>
          </a:p>
        </p:txBody>
      </p:sp>
      <p:sp>
        <p:nvSpPr>
          <p:cNvPr id="65" name="Text Box 194"/>
          <p:cNvSpPr txBox="1">
            <a:spLocks noChangeArrowheads="1"/>
          </p:cNvSpPr>
          <p:nvPr/>
        </p:nvSpPr>
        <p:spPr bwMode="auto">
          <a:xfrm>
            <a:off x="10045065" y="12746990"/>
            <a:ext cx="18335625" cy="7530465"/>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endParaRPr lang="en-US" sz="3000" b="1" dirty="0">
              <a:latin typeface="Arial" panose="020B0604020202020204" pitchFamily="34" charset="0"/>
              <a:cs typeface="Arial" panose="020B0604020202020204" pitchFamily="34" charset="0"/>
            </a:endParaRPr>
          </a:p>
        </p:txBody>
      </p:sp>
      <p:pic>
        <p:nvPicPr>
          <p:cNvPr id="69" name="Picture 68"/>
          <p:cNvPicPr>
            <a:picLocks noChangeAspect="1"/>
          </p:cNvPicPr>
          <p:nvPr/>
        </p:nvPicPr>
        <p:blipFill>
          <a:blip r:embed="rId2"/>
          <a:stretch>
            <a:fillRect/>
          </a:stretch>
        </p:blipFill>
        <p:spPr>
          <a:xfrm>
            <a:off x="10179050" y="12862560"/>
            <a:ext cx="18137505" cy="6719570"/>
          </a:xfrm>
          <a:prstGeom prst="rect">
            <a:avLst/>
          </a:prstGeom>
        </p:spPr>
      </p:pic>
      <p:sp>
        <p:nvSpPr>
          <p:cNvPr id="94" name="Shape 26"/>
          <p:cNvSpPr/>
          <p:nvPr/>
        </p:nvSpPr>
        <p:spPr>
          <a:xfrm>
            <a:off x="14767560" y="22110065"/>
            <a:ext cx="6383020" cy="1334135"/>
          </a:xfrm>
          <a:prstGeom prst="rect">
            <a:avLst/>
          </a:prstGeom>
          <a:solidFill>
            <a:srgbClr val="F0F4FB"/>
          </a:solidFill>
          <a:ln w="6350">
            <a:solidFill>
              <a:srgbClr val="D0D8EA"/>
            </a:solidFill>
            <a:prstDash val="solid"/>
          </a:ln>
        </p:spPr>
      </p:sp>
      <p:sp>
        <p:nvSpPr>
          <p:cNvPr id="95" name="Text 27"/>
          <p:cNvSpPr/>
          <p:nvPr/>
        </p:nvSpPr>
        <p:spPr>
          <a:xfrm>
            <a:off x="15159355" y="22321520"/>
            <a:ext cx="6022340" cy="456565"/>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rPr>
              <a:t>Blockchain</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96" name="Text 28"/>
          <p:cNvSpPr/>
          <p:nvPr/>
        </p:nvSpPr>
        <p:spPr>
          <a:xfrm>
            <a:off x="15159355" y="22778085"/>
            <a:ext cx="6022340" cy="437515"/>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rPr>
              <a:t>Solana / Polygon</a:t>
            </a:r>
            <a:endParaRPr lang="en-US" sz="3200" dirty="0"/>
          </a:p>
        </p:txBody>
      </p:sp>
      <p:sp>
        <p:nvSpPr>
          <p:cNvPr id="152" name="Shape 26"/>
          <p:cNvSpPr/>
          <p:nvPr/>
        </p:nvSpPr>
        <p:spPr>
          <a:xfrm>
            <a:off x="21663660" y="22110065"/>
            <a:ext cx="6437630" cy="1334135"/>
          </a:xfrm>
          <a:prstGeom prst="rect">
            <a:avLst/>
          </a:prstGeom>
          <a:solidFill>
            <a:srgbClr val="F0F4FB"/>
          </a:solidFill>
          <a:ln w="6350">
            <a:solidFill>
              <a:srgbClr val="D0D8EA"/>
            </a:solidFill>
            <a:prstDash val="solid"/>
          </a:ln>
        </p:spPr>
      </p:sp>
      <p:sp>
        <p:nvSpPr>
          <p:cNvPr id="153" name="Text 27"/>
          <p:cNvSpPr/>
          <p:nvPr/>
        </p:nvSpPr>
        <p:spPr>
          <a:xfrm>
            <a:off x="21987510" y="22320885"/>
            <a:ext cx="5474335" cy="457200"/>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rPr>
              <a:t>Smart Contract</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154" name="Text 28"/>
          <p:cNvSpPr/>
          <p:nvPr/>
        </p:nvSpPr>
        <p:spPr>
          <a:xfrm>
            <a:off x="21964650" y="22778085"/>
            <a:ext cx="5220335" cy="436880"/>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rPr>
              <a:t>Solana system / Solidity</a:t>
            </a:r>
            <a:endParaRPr lang="en-US" sz="3200" dirty="0"/>
          </a:p>
        </p:txBody>
      </p:sp>
      <p:sp>
        <p:nvSpPr>
          <p:cNvPr id="183" name="Shape 26"/>
          <p:cNvSpPr/>
          <p:nvPr/>
        </p:nvSpPr>
        <p:spPr>
          <a:xfrm>
            <a:off x="14767560" y="23551515"/>
            <a:ext cx="6383020" cy="1334135"/>
          </a:xfrm>
          <a:prstGeom prst="rect">
            <a:avLst/>
          </a:prstGeom>
          <a:solidFill>
            <a:srgbClr val="F0F4FB"/>
          </a:solidFill>
          <a:ln w="6350">
            <a:solidFill>
              <a:srgbClr val="D0D8EA"/>
            </a:solidFill>
            <a:prstDash val="solid"/>
          </a:ln>
        </p:spPr>
      </p:sp>
      <p:sp>
        <p:nvSpPr>
          <p:cNvPr id="184" name="Text 27"/>
          <p:cNvSpPr/>
          <p:nvPr/>
        </p:nvSpPr>
        <p:spPr>
          <a:xfrm>
            <a:off x="15159355" y="23762970"/>
            <a:ext cx="6022340" cy="456565"/>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sym typeface="+mn-ea"/>
              </a:rPr>
              <a:t>Chuẩn token</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185" name="Text 28"/>
          <p:cNvSpPr/>
          <p:nvPr/>
        </p:nvSpPr>
        <p:spPr>
          <a:xfrm>
            <a:off x="15159355" y="24219535"/>
            <a:ext cx="6022340" cy="437515"/>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sym typeface="+mn-ea"/>
              </a:rPr>
              <a:t>Metaplex NFT / ERC-721</a:t>
            </a:r>
            <a:endParaRPr lang="en-US" sz="3200" dirty="0"/>
          </a:p>
        </p:txBody>
      </p:sp>
      <p:sp>
        <p:nvSpPr>
          <p:cNvPr id="186" name="Shape 26"/>
          <p:cNvSpPr/>
          <p:nvPr/>
        </p:nvSpPr>
        <p:spPr>
          <a:xfrm>
            <a:off x="21663660" y="23551515"/>
            <a:ext cx="6437630" cy="1334135"/>
          </a:xfrm>
          <a:prstGeom prst="rect">
            <a:avLst/>
          </a:prstGeom>
          <a:solidFill>
            <a:srgbClr val="F0F4FB"/>
          </a:solidFill>
          <a:ln w="6350">
            <a:solidFill>
              <a:srgbClr val="D0D8EA"/>
            </a:solidFill>
            <a:prstDash val="solid"/>
          </a:ln>
        </p:spPr>
      </p:sp>
      <p:sp>
        <p:nvSpPr>
          <p:cNvPr id="187" name="Text 27"/>
          <p:cNvSpPr/>
          <p:nvPr/>
        </p:nvSpPr>
        <p:spPr>
          <a:xfrm>
            <a:off x="21987510" y="23762335"/>
            <a:ext cx="5474335" cy="457200"/>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sym typeface="+mn-ea"/>
              </a:rPr>
              <a:t>Frontend</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188" name="Text 28"/>
          <p:cNvSpPr/>
          <p:nvPr/>
        </p:nvSpPr>
        <p:spPr>
          <a:xfrm>
            <a:off x="21964650" y="24219535"/>
            <a:ext cx="5220335" cy="436880"/>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rPr>
              <a:t>Next.js</a:t>
            </a:r>
            <a:endParaRPr lang="en-US" sz="3200" dirty="0"/>
          </a:p>
        </p:txBody>
      </p:sp>
      <p:sp>
        <p:nvSpPr>
          <p:cNvPr id="195" name="Shape 26"/>
          <p:cNvSpPr/>
          <p:nvPr/>
        </p:nvSpPr>
        <p:spPr>
          <a:xfrm>
            <a:off x="14767560" y="25048210"/>
            <a:ext cx="6383020" cy="1334135"/>
          </a:xfrm>
          <a:prstGeom prst="rect">
            <a:avLst/>
          </a:prstGeom>
          <a:solidFill>
            <a:srgbClr val="F0F4FB"/>
          </a:solidFill>
          <a:ln w="6350">
            <a:solidFill>
              <a:srgbClr val="D0D8EA"/>
            </a:solidFill>
            <a:prstDash val="solid"/>
          </a:ln>
        </p:spPr>
      </p:sp>
      <p:sp>
        <p:nvSpPr>
          <p:cNvPr id="196" name="Text 27"/>
          <p:cNvSpPr/>
          <p:nvPr/>
        </p:nvSpPr>
        <p:spPr>
          <a:xfrm>
            <a:off x="15159355" y="25259665"/>
            <a:ext cx="6022340" cy="456565"/>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sym typeface="+mn-ea"/>
              </a:rPr>
              <a:t>Lưu trữ phi tập trung</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197" name="Text 28"/>
          <p:cNvSpPr/>
          <p:nvPr/>
        </p:nvSpPr>
        <p:spPr>
          <a:xfrm>
            <a:off x="15159355" y="25716230"/>
            <a:ext cx="6022340" cy="437515"/>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sym typeface="+mn-ea"/>
              </a:rPr>
              <a:t>IPFS / </a:t>
            </a:r>
            <a:r>
              <a:rPr lang="en-US" altLang="en-US" sz="3200" b="1" dirty="0">
                <a:solidFill>
                  <a:srgbClr val="1A3A6B"/>
                </a:solidFill>
                <a:latin typeface="Arial" panose="020B0604020202020204" pitchFamily="34" charset="0"/>
                <a:ea typeface="Arial" panose="020B0604020202020204" pitchFamily="34" charset="-122"/>
                <a:cs typeface="Arial" panose="020B0604020202020204" pitchFamily="34" charset="-120"/>
                <a:sym typeface="+mn-ea"/>
              </a:rPr>
              <a:t>Cloudinary </a:t>
            </a: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sym typeface="+mn-ea"/>
              </a:rPr>
              <a:t>/ Pinata</a:t>
            </a:r>
            <a:endParaRPr lang="en-US" sz="3200" dirty="0"/>
          </a:p>
        </p:txBody>
      </p:sp>
      <p:sp>
        <p:nvSpPr>
          <p:cNvPr id="198" name="Shape 26"/>
          <p:cNvSpPr/>
          <p:nvPr/>
        </p:nvSpPr>
        <p:spPr>
          <a:xfrm>
            <a:off x="21663660" y="25048210"/>
            <a:ext cx="6437630" cy="1334135"/>
          </a:xfrm>
          <a:prstGeom prst="rect">
            <a:avLst/>
          </a:prstGeom>
          <a:solidFill>
            <a:srgbClr val="F0F4FB"/>
          </a:solidFill>
          <a:ln w="6350">
            <a:solidFill>
              <a:srgbClr val="D0D8EA"/>
            </a:solidFill>
            <a:prstDash val="solid"/>
          </a:ln>
        </p:spPr>
      </p:sp>
      <p:sp>
        <p:nvSpPr>
          <p:cNvPr id="199" name="Text 27"/>
          <p:cNvSpPr/>
          <p:nvPr/>
        </p:nvSpPr>
        <p:spPr>
          <a:xfrm>
            <a:off x="21987510" y="25259030"/>
            <a:ext cx="5474335" cy="457200"/>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sym typeface="+mn-ea"/>
              </a:rPr>
              <a:t>Kết nối ví</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200" name="Text 28"/>
          <p:cNvSpPr/>
          <p:nvPr/>
        </p:nvSpPr>
        <p:spPr>
          <a:xfrm>
            <a:off x="21964650" y="25716230"/>
            <a:ext cx="5220335" cy="436880"/>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sym typeface="+mn-ea"/>
              </a:rPr>
              <a:t>Phantom / MetaMask</a:t>
            </a:r>
            <a:endParaRPr lang="en-US" sz="3200" dirty="0"/>
          </a:p>
        </p:txBody>
      </p:sp>
      <p:sp>
        <p:nvSpPr>
          <p:cNvPr id="201" name="Shape 26"/>
          <p:cNvSpPr/>
          <p:nvPr/>
        </p:nvSpPr>
        <p:spPr>
          <a:xfrm>
            <a:off x="14767560" y="26555065"/>
            <a:ext cx="6383020" cy="1334135"/>
          </a:xfrm>
          <a:prstGeom prst="rect">
            <a:avLst/>
          </a:prstGeom>
          <a:solidFill>
            <a:srgbClr val="F0F4FB"/>
          </a:solidFill>
          <a:ln w="6350">
            <a:solidFill>
              <a:srgbClr val="D0D8EA"/>
            </a:solidFill>
            <a:prstDash val="solid"/>
          </a:ln>
        </p:spPr>
      </p:sp>
      <p:sp>
        <p:nvSpPr>
          <p:cNvPr id="202" name="Text 27"/>
          <p:cNvSpPr/>
          <p:nvPr/>
        </p:nvSpPr>
        <p:spPr>
          <a:xfrm>
            <a:off x="15159355" y="26766520"/>
            <a:ext cx="6022340" cy="456565"/>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sym typeface="+mn-ea"/>
              </a:rPr>
              <a:t>Backend</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203" name="Text 28"/>
          <p:cNvSpPr/>
          <p:nvPr/>
        </p:nvSpPr>
        <p:spPr>
          <a:xfrm>
            <a:off x="15159355" y="27223085"/>
            <a:ext cx="6022340" cy="437515"/>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sym typeface="+mn-ea"/>
              </a:rPr>
              <a:t>Node.js / Supabase</a:t>
            </a:r>
            <a:endParaRPr lang="en-US" sz="3200" dirty="0"/>
          </a:p>
        </p:txBody>
      </p:sp>
      <p:sp>
        <p:nvSpPr>
          <p:cNvPr id="204" name="Shape 26"/>
          <p:cNvSpPr/>
          <p:nvPr/>
        </p:nvSpPr>
        <p:spPr>
          <a:xfrm>
            <a:off x="21663660" y="26555065"/>
            <a:ext cx="6437630" cy="1334135"/>
          </a:xfrm>
          <a:prstGeom prst="rect">
            <a:avLst/>
          </a:prstGeom>
          <a:solidFill>
            <a:srgbClr val="F0F4FB"/>
          </a:solidFill>
          <a:ln w="6350">
            <a:solidFill>
              <a:srgbClr val="D0D8EA"/>
            </a:solidFill>
            <a:prstDash val="solid"/>
          </a:ln>
        </p:spPr>
        <p:txBody>
          <a:bodyPr/>
          <a:p>
            <a:endParaRPr lang="en-US"/>
          </a:p>
        </p:txBody>
      </p:sp>
      <p:sp>
        <p:nvSpPr>
          <p:cNvPr id="205" name="Text 27"/>
          <p:cNvSpPr/>
          <p:nvPr/>
        </p:nvSpPr>
        <p:spPr>
          <a:xfrm>
            <a:off x="21987510" y="26765885"/>
            <a:ext cx="5474335" cy="457200"/>
          </a:xfrm>
          <a:prstGeom prst="rect">
            <a:avLst/>
          </a:prstGeom>
          <a:noFill/>
        </p:spPr>
        <p:txBody>
          <a:bodyPr wrap="square" rtlCol="0" anchor="ctr"/>
          <a:lstStyle/>
          <a:p>
            <a:pPr marL="0" indent="0">
              <a:buNone/>
            </a:pPr>
            <a:r>
              <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sym typeface="+mn-ea"/>
              </a:rPr>
              <a:t>Dev tools</a:t>
            </a:r>
            <a:endParaRPr lang="en-US" sz="2800" dirty="0">
              <a:solidFill>
                <a:srgbClr val="555555"/>
              </a:solidFill>
              <a:latin typeface="Arial" panose="020B0604020202020204" pitchFamily="34" charset="0"/>
              <a:ea typeface="Arial" panose="020B0604020202020204" pitchFamily="34" charset="-122"/>
              <a:cs typeface="Arial" panose="020B0604020202020204" pitchFamily="34" charset="-120"/>
            </a:endParaRPr>
          </a:p>
        </p:txBody>
      </p:sp>
      <p:sp>
        <p:nvSpPr>
          <p:cNvPr id="206" name="Text 28"/>
          <p:cNvSpPr/>
          <p:nvPr/>
        </p:nvSpPr>
        <p:spPr>
          <a:xfrm>
            <a:off x="21964650" y="27223085"/>
            <a:ext cx="5963285" cy="436880"/>
          </a:xfrm>
          <a:prstGeom prst="rect">
            <a:avLst/>
          </a:prstGeom>
          <a:noFill/>
        </p:spPr>
        <p:txBody>
          <a:bodyPr wrap="square" rtlCol="0" anchor="ctr"/>
          <a:lstStyle/>
          <a:p>
            <a:pPr marL="0" indent="0">
              <a:buNone/>
            </a:pPr>
            <a:r>
              <a:rPr lang="en-US" sz="3200" b="1" dirty="0">
                <a:solidFill>
                  <a:srgbClr val="1A3A6B"/>
                </a:solidFill>
                <a:latin typeface="Arial" panose="020B0604020202020204" pitchFamily="34" charset="0"/>
                <a:ea typeface="Arial" panose="020B0604020202020204" pitchFamily="34" charset="-122"/>
                <a:cs typeface="Arial" panose="020B0604020202020204" pitchFamily="34" charset="-120"/>
                <a:sym typeface="+mn-ea"/>
              </a:rPr>
              <a:t>Solana CLI / Hardhat / Vitest</a:t>
            </a:r>
            <a:endParaRPr lang="en-US" sz="3200" dirty="0"/>
          </a:p>
        </p:txBody>
      </p:sp>
      <p:sp>
        <p:nvSpPr>
          <p:cNvPr id="207" name="Text Box 206"/>
          <p:cNvSpPr txBox="1"/>
          <p:nvPr/>
        </p:nvSpPr>
        <p:spPr>
          <a:xfrm>
            <a:off x="723900" y="30395545"/>
            <a:ext cx="9029700" cy="7388860"/>
          </a:xfrm>
          <a:prstGeom prst="rect">
            <a:avLst/>
          </a:prstGeom>
        </p:spPr>
        <p:txBody>
          <a:bodyPr>
            <a:noAutofit/>
            <a:extLst>
              <a:ext uri="{4A0BC546-FE56-4ADE-93B0-CB8AF2F6F144}">
                <wpsdc:textFrameExt xmlns:wpsdc="http://www.wps.cn/officeDocument/2022/drawingmlCustomData" type="text"/>
              </a:ext>
            </a:extLst>
          </a:bodyPr>
          <a:p>
            <a:pPr indent="0" eaLnBrk="1" hangingPunct="1">
              <a:lnSpc>
                <a:spcPct val="120000"/>
              </a:lnSpc>
              <a:buFont typeface="Arial" panose="020B0604020202020204" pitchFamily="34" charset="0"/>
              <a:buNone/>
            </a:pPr>
            <a:r>
              <a:rPr lang="en-US" sz="3000" b="1" dirty="0">
                <a:solidFill>
                  <a:schemeClr val="accent1">
                    <a:lumMod val="75000"/>
                  </a:schemeClr>
                </a:solidFill>
                <a:latin typeface="Arial" panose="020B0604020202020204" pitchFamily="34" charset="0"/>
                <a:cs typeface="Arial" panose="020B0604020202020204" pitchFamily="34" charset="0"/>
                <a:sym typeface="+mn-ea"/>
              </a:rPr>
              <a:t>Nội dung đạt được:</a:t>
            </a:r>
            <a:endParaRPr lang="en-US" sz="3000" b="1" dirty="0">
              <a:solidFill>
                <a:schemeClr val="accent1">
                  <a:lumMod val="75000"/>
                </a:schemeClr>
              </a:solidFill>
              <a:latin typeface="Arial" panose="020B0604020202020204" pitchFamily="34" charset="0"/>
              <a:cs typeface="Arial" panose="020B0604020202020204" pitchFamily="34" charset="0"/>
            </a:endParaRPr>
          </a:p>
          <a:p>
            <a:pPr marL="514350" indent="-514350" eaLnBrk="1" hangingPunct="1">
              <a:lnSpc>
                <a:spcPct val="150000"/>
              </a:lnSpc>
              <a:buFont typeface="Arial" panose="020B0604020202020204" pitchFamily="34" charset="0"/>
              <a:buAutoNum type="arabicPeriod"/>
            </a:pPr>
            <a:r>
              <a:rPr lang="en-US" sz="3000" b="1" dirty="0">
                <a:solidFill>
                  <a:schemeClr val="accent1">
                    <a:lumMod val="75000"/>
                  </a:schemeClr>
                </a:solidFill>
                <a:latin typeface="Arial" panose="020B0604020202020204" pitchFamily="34" charset="0"/>
                <a:cs typeface="Arial" panose="020B0604020202020204" pitchFamily="34" charset="0"/>
                <a:sym typeface="+mn-ea"/>
              </a:rPr>
              <a:t>Hệ thống mint NFT hoàn chỉnh</a:t>
            </a:r>
            <a:endParaRPr lang="en-US" sz="3000" b="1" dirty="0">
              <a:solidFill>
                <a:schemeClr val="accent1">
                  <a:lumMod val="75000"/>
                </a:schemeClr>
              </a:solidFill>
              <a:latin typeface="Arial" panose="020B0604020202020204" pitchFamily="34" charset="0"/>
              <a:cs typeface="Arial" panose="020B0604020202020204" pitchFamily="34" charset="0"/>
            </a:endParaRPr>
          </a:p>
          <a:p>
            <a:pPr marL="457200" lvl="1" indent="0" eaLnBrk="1" hangingPunct="1">
              <a:buFont typeface="Arial" panose="020B0604020202020204" pitchFamily="34" charset="0"/>
              <a:buNone/>
            </a:pPr>
            <a:r>
              <a:rPr lang="en-US" sz="3000" dirty="0">
                <a:latin typeface="Arial" panose="020B0604020202020204" pitchFamily="34" charset="0"/>
                <a:cs typeface="Arial" panose="020B0604020202020204" pitchFamily="34" charset="0"/>
                <a:sym typeface="+mn-ea"/>
              </a:rPr>
              <a:t>Upload → ký giao dịch → mint NFT thành công</a:t>
            </a:r>
            <a:endParaRPr lang="en-US" sz="3000" dirty="0">
              <a:latin typeface="Arial" panose="020B0604020202020204" pitchFamily="34" charset="0"/>
              <a:cs typeface="Arial" panose="020B0604020202020204" pitchFamily="34" charset="0"/>
            </a:endParaRPr>
          </a:p>
          <a:p>
            <a:pPr marL="514350" indent="-514350" eaLnBrk="1" hangingPunct="1">
              <a:buFont typeface="Arial" panose="020B0604020202020204" pitchFamily="34" charset="0"/>
              <a:buAutoNum type="arabicPeriod"/>
            </a:pPr>
            <a:r>
              <a:rPr lang="en-US" sz="3000" b="1" dirty="0">
                <a:solidFill>
                  <a:schemeClr val="accent1">
                    <a:lumMod val="75000"/>
                  </a:schemeClr>
                </a:solidFill>
                <a:latin typeface="Arial" panose="020B0604020202020204" pitchFamily="34" charset="0"/>
                <a:cs typeface="Arial" panose="020B0604020202020204" pitchFamily="34" charset="0"/>
                <a:sym typeface="+mn-ea"/>
              </a:rPr>
              <a:t>Sàn giao dịch phi tập trung</a:t>
            </a:r>
            <a:endParaRPr lang="en-US" sz="3000" b="1" dirty="0">
              <a:solidFill>
                <a:schemeClr val="accent1">
                  <a:lumMod val="75000"/>
                </a:schemeClr>
              </a:solidFill>
              <a:latin typeface="Arial" panose="020B0604020202020204" pitchFamily="34" charset="0"/>
              <a:cs typeface="Arial" panose="020B0604020202020204" pitchFamily="34" charset="0"/>
            </a:endParaRPr>
          </a:p>
          <a:p>
            <a:pPr indent="457200" eaLnBrk="1" hangingPunct="1">
              <a:buFont typeface="Arial" panose="020B0604020202020204" pitchFamily="34" charset="0"/>
              <a:buNone/>
            </a:pPr>
            <a:r>
              <a:rPr lang="en-US" sz="3000" dirty="0">
                <a:latin typeface="Arial" panose="020B0604020202020204" pitchFamily="34" charset="0"/>
                <a:cs typeface="Arial" panose="020B0604020202020204" pitchFamily="34" charset="0"/>
                <a:sym typeface="+mn-ea"/>
              </a:rPr>
              <a:t>Marketplace hiển thị NFT, mua/bán ngay trên blockchain</a:t>
            </a:r>
            <a:endParaRPr lang="en-US" sz="3000" dirty="0">
              <a:latin typeface="Arial" panose="020B0604020202020204" pitchFamily="34" charset="0"/>
              <a:cs typeface="Arial" panose="020B0604020202020204" pitchFamily="34" charset="0"/>
            </a:endParaRPr>
          </a:p>
          <a:p>
            <a:pPr marL="514350" indent="-514350" eaLnBrk="1" hangingPunct="1">
              <a:buFont typeface="+mj-lt"/>
              <a:buAutoNum type="arabicPeriod" startAt="3"/>
            </a:pPr>
            <a:r>
              <a:rPr lang="en-US" sz="3000" b="1" dirty="0">
                <a:solidFill>
                  <a:schemeClr val="accent1">
                    <a:lumMod val="75000"/>
                  </a:schemeClr>
                </a:solidFill>
                <a:latin typeface="Arial" panose="020B0604020202020204" pitchFamily="34" charset="0"/>
                <a:cs typeface="Arial" panose="020B0604020202020204" pitchFamily="34" charset="0"/>
                <a:sym typeface="+mn-ea"/>
              </a:rPr>
              <a:t>Module đấu giá</a:t>
            </a:r>
            <a:endParaRPr lang="en-US" sz="3000" b="1" dirty="0">
              <a:solidFill>
                <a:schemeClr val="accent1">
                  <a:lumMod val="75000"/>
                </a:schemeClr>
              </a:solidFill>
              <a:latin typeface="Arial" panose="020B0604020202020204" pitchFamily="34" charset="0"/>
              <a:cs typeface="Arial" panose="020B0604020202020204" pitchFamily="34" charset="0"/>
              <a:sym typeface="+mn-ea"/>
            </a:endParaRPr>
          </a:p>
          <a:p>
            <a:pPr indent="457200" eaLnBrk="1" hangingPunct="1">
              <a:buFont typeface="Arial" panose="020B0604020202020204" pitchFamily="34" charset="0"/>
              <a:buNone/>
            </a:pPr>
            <a:r>
              <a:rPr lang="en-US" altLang="en-US" sz="3000" dirty="0">
                <a:latin typeface="Arial" panose="020B0604020202020204" pitchFamily="34" charset="0"/>
                <a:cs typeface="Arial" panose="020B0604020202020204" pitchFamily="34" charset="0"/>
              </a:rPr>
              <a:t>Đ</a:t>
            </a:r>
            <a:r>
              <a:rPr lang="en-US" altLang="en-US" sz="3000" dirty="0">
                <a:latin typeface="Arial" panose="020B0604020202020204" pitchFamily="34" charset="0"/>
                <a:cs typeface="Arial" panose="020B0604020202020204" pitchFamily="34" charset="0"/>
              </a:rPr>
              <a:t>ấu giá thời gian thực, escrow tự </a:t>
            </a:r>
            <a:r>
              <a:rPr lang="en-US" altLang="en-US" sz="3000" dirty="0">
                <a:latin typeface="Arial" panose="020B0604020202020204" pitchFamily="34" charset="0"/>
                <a:cs typeface="Arial" panose="020B0604020202020204" pitchFamily="34" charset="0"/>
              </a:rPr>
              <a:t>đ</a:t>
            </a:r>
            <a:r>
              <a:rPr lang="en-US" altLang="en-US" sz="3000" dirty="0">
                <a:latin typeface="Arial" panose="020B0604020202020204" pitchFamily="34" charset="0"/>
                <a:cs typeface="Arial" panose="020B0604020202020204" pitchFamily="34" charset="0"/>
              </a:rPr>
              <a:t>ộng giải ngân</a:t>
            </a:r>
            <a:endParaRPr lang="en-US" altLang="en-US" sz="3000" dirty="0">
              <a:latin typeface="Arial" panose="020B0604020202020204" pitchFamily="34" charset="0"/>
              <a:cs typeface="Arial" panose="020B0604020202020204" pitchFamily="34" charset="0"/>
            </a:endParaRPr>
          </a:p>
          <a:p>
            <a:pPr marL="514350" indent="-514350" eaLnBrk="1" hangingPunct="1">
              <a:buFont typeface="+mj-lt"/>
              <a:buAutoNum type="arabicPeriod" startAt="4"/>
            </a:pPr>
            <a:r>
              <a:rPr lang="en-US" sz="3000" b="1" dirty="0">
                <a:solidFill>
                  <a:schemeClr val="accent1">
                    <a:lumMod val="75000"/>
                  </a:schemeClr>
                </a:solidFill>
                <a:latin typeface="Arial" panose="020B0604020202020204" pitchFamily="34" charset="0"/>
                <a:cs typeface="Arial" panose="020B0604020202020204" pitchFamily="34" charset="0"/>
                <a:sym typeface="+mn-ea"/>
              </a:rPr>
              <a:t>Trang ví cá nhân</a:t>
            </a:r>
            <a:endParaRPr lang="en-US" sz="3000" b="1" dirty="0">
              <a:solidFill>
                <a:schemeClr val="accent1">
                  <a:lumMod val="75000"/>
                </a:schemeClr>
              </a:solidFill>
              <a:latin typeface="Arial" panose="020B0604020202020204" pitchFamily="34" charset="0"/>
              <a:cs typeface="Arial" panose="020B0604020202020204" pitchFamily="34" charset="0"/>
            </a:endParaRPr>
          </a:p>
          <a:p>
            <a:pPr indent="457200" algn="l"/>
            <a:r>
              <a:rPr lang="en-US" altLang="en-US" sz="3000">
                <a:latin typeface="Arial" panose="020B0604020202020204" pitchFamily="34" charset="0"/>
                <a:ea typeface="Microsoft YaHei" panose="020B0503020204020204" charset="-122"/>
                <a:cs typeface="Arial" panose="020B0604020202020204" pitchFamily="34" charset="0"/>
              </a:rPr>
              <a:t>Xem NFT, lịch sử giao dịch on-chain</a:t>
            </a:r>
            <a:endParaRPr lang="en-US" altLang="en-US" sz="3000">
              <a:latin typeface="Arial" panose="020B0604020202020204" pitchFamily="34" charset="0"/>
              <a:ea typeface="Microsoft YaHei" panose="020B0503020204020204" charset="-122"/>
              <a:cs typeface="Arial" panose="020B0604020202020204" pitchFamily="34" charset="0"/>
            </a:endParaRPr>
          </a:p>
        </p:txBody>
      </p:sp>
      <p:sp>
        <p:nvSpPr>
          <p:cNvPr id="208" name="Text Box 207"/>
          <p:cNvSpPr txBox="1"/>
          <p:nvPr/>
        </p:nvSpPr>
        <p:spPr>
          <a:xfrm>
            <a:off x="10534015" y="30395545"/>
            <a:ext cx="17567275" cy="9758680"/>
          </a:xfrm>
          <a:prstGeom prst="rect">
            <a:avLst/>
          </a:prstGeom>
          <a:noFill/>
        </p:spPr>
        <p:txBody>
          <a:bodyPr wrap="square" rtlCol="0">
            <a:noAutofit/>
          </a:bodyPr>
          <a:p>
            <a:r>
              <a:rPr lang="en-US" sz="2800" b="1">
                <a:solidFill>
                  <a:schemeClr val="accent1">
                    <a:lumMod val="75000"/>
                  </a:schemeClr>
                </a:solidFill>
                <a:latin typeface="Arial" panose="020B0604020202020204" pitchFamily="34" charset="0"/>
                <a:cs typeface="Arial" panose="020B0604020202020204" pitchFamily="34" charset="0"/>
              </a:rPr>
              <a:t>Ảnh demo giao diện:</a:t>
            </a:r>
            <a:endParaRPr lang="en-US" sz="2800" b="1">
              <a:solidFill>
                <a:schemeClr val="accent1">
                  <a:lumMod val="75000"/>
                </a:schemeClr>
              </a:solidFill>
              <a:latin typeface="Arial" panose="020B0604020202020204" pitchFamily="34" charset="0"/>
              <a:cs typeface="Arial" panose="020B0604020202020204" pitchFamily="34" charset="0"/>
            </a:endParaRPr>
          </a:p>
          <a:p>
            <a:endParaRPr lang="en-US" sz="2800" b="1">
              <a:solidFill>
                <a:schemeClr val="accent1">
                  <a:lumMod val="75000"/>
                </a:schemeClr>
              </a:solidFill>
              <a:latin typeface="Arial" panose="020B0604020202020204" pitchFamily="34" charset="0"/>
              <a:cs typeface="Arial" panose="020B0604020202020204" pitchFamily="34" charset="0"/>
            </a:endParaRPr>
          </a:p>
        </p:txBody>
      </p:sp>
      <p:sp>
        <p:nvSpPr>
          <p:cNvPr id="211" name="Shape 158"/>
          <p:cNvSpPr/>
          <p:nvPr/>
        </p:nvSpPr>
        <p:spPr>
          <a:xfrm>
            <a:off x="10382250" y="30167580"/>
            <a:ext cx="635" cy="7616825"/>
          </a:xfrm>
          <a:prstGeom prst="line">
            <a:avLst/>
          </a:prstGeom>
          <a:noFill/>
          <a:ln w="6350">
            <a:solidFill>
              <a:srgbClr val="D0D8EA"/>
            </a:solidFill>
            <a:prstDash val="solid"/>
          </a:ln>
        </p:spPr>
      </p:sp>
      <p:sp>
        <p:nvSpPr>
          <p:cNvPr id="264" name="Text 162"/>
          <p:cNvSpPr/>
          <p:nvPr/>
        </p:nvSpPr>
        <p:spPr>
          <a:xfrm>
            <a:off x="11435715" y="34964370"/>
            <a:ext cx="7303135" cy="343535"/>
          </a:xfrm>
          <a:prstGeom prst="rect">
            <a:avLst/>
          </a:prstGeom>
          <a:noFill/>
        </p:spPr>
        <p:txBody>
          <a:bodyPr wrap="square" rtlCol="0" anchor="ctr"/>
          <a:lstStyle/>
          <a:p>
            <a:pPr marL="0" indent="0" algn="ctr">
              <a:buNone/>
            </a:pPr>
            <a:r>
              <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rPr>
              <a:t>Trang chủ Marketplace</a:t>
            </a:r>
            <a:endPar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endParaRPr>
          </a:p>
        </p:txBody>
      </p:sp>
      <p:pic>
        <p:nvPicPr>
          <p:cNvPr id="267" name="Picture 266" descr="Screenshot 2026-06-04 120544"/>
          <p:cNvPicPr>
            <a:picLocks noChangeAspect="1"/>
          </p:cNvPicPr>
          <p:nvPr/>
        </p:nvPicPr>
        <p:blipFill>
          <a:blip r:embed="rId3"/>
          <a:stretch>
            <a:fillRect/>
          </a:stretch>
        </p:blipFill>
        <p:spPr>
          <a:xfrm>
            <a:off x="11435715" y="31119445"/>
            <a:ext cx="7303135" cy="3844925"/>
          </a:xfrm>
          <a:prstGeom prst="rect">
            <a:avLst/>
          </a:prstGeom>
        </p:spPr>
      </p:pic>
      <p:pic>
        <p:nvPicPr>
          <p:cNvPr id="268" name="Picture 267"/>
          <p:cNvPicPr>
            <a:picLocks noChangeAspect="1"/>
          </p:cNvPicPr>
          <p:nvPr/>
        </p:nvPicPr>
        <p:blipFill>
          <a:blip r:embed="rId4"/>
          <a:stretch>
            <a:fillRect/>
          </a:stretch>
        </p:blipFill>
        <p:spPr>
          <a:xfrm>
            <a:off x="19556095" y="31119445"/>
            <a:ext cx="7133590" cy="3788410"/>
          </a:xfrm>
          <a:prstGeom prst="rect">
            <a:avLst/>
          </a:prstGeom>
        </p:spPr>
      </p:pic>
      <p:sp>
        <p:nvSpPr>
          <p:cNvPr id="269" name="Text 162"/>
          <p:cNvSpPr/>
          <p:nvPr/>
        </p:nvSpPr>
        <p:spPr>
          <a:xfrm>
            <a:off x="19556095" y="34964370"/>
            <a:ext cx="7303135" cy="343535"/>
          </a:xfrm>
          <a:prstGeom prst="rect">
            <a:avLst/>
          </a:prstGeom>
          <a:noFill/>
        </p:spPr>
        <p:txBody>
          <a:bodyPr wrap="square" rtlCol="0" anchor="ctr"/>
          <a:lstStyle/>
          <a:p>
            <a:pPr marL="0" indent="0" algn="ctr">
              <a:buNone/>
            </a:pPr>
            <a:r>
              <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rPr>
              <a:t>Mint NFT</a:t>
            </a:r>
            <a:endPar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endParaRPr>
          </a:p>
        </p:txBody>
      </p:sp>
      <p:pic>
        <p:nvPicPr>
          <p:cNvPr id="270" name="Picture 269"/>
          <p:cNvPicPr>
            <a:picLocks noChangeAspect="1"/>
          </p:cNvPicPr>
          <p:nvPr/>
        </p:nvPicPr>
        <p:blipFill>
          <a:blip r:embed="rId5"/>
          <a:stretch>
            <a:fillRect/>
          </a:stretch>
        </p:blipFill>
        <p:spPr>
          <a:xfrm>
            <a:off x="11435715" y="35647630"/>
            <a:ext cx="7392035" cy="4170680"/>
          </a:xfrm>
          <a:prstGeom prst="rect">
            <a:avLst/>
          </a:prstGeom>
        </p:spPr>
      </p:pic>
      <p:sp>
        <p:nvSpPr>
          <p:cNvPr id="271" name="Text 162"/>
          <p:cNvSpPr/>
          <p:nvPr/>
        </p:nvSpPr>
        <p:spPr>
          <a:xfrm>
            <a:off x="11435715" y="39818310"/>
            <a:ext cx="7303135" cy="343535"/>
          </a:xfrm>
          <a:prstGeom prst="rect">
            <a:avLst/>
          </a:prstGeom>
          <a:noFill/>
        </p:spPr>
        <p:txBody>
          <a:bodyPr wrap="square" rtlCol="0" anchor="ctr"/>
          <a:lstStyle/>
          <a:p>
            <a:pPr marL="0" indent="0" algn="ctr">
              <a:buNone/>
            </a:pPr>
            <a:r>
              <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rPr>
              <a:t>Auction NFT</a:t>
            </a:r>
            <a:endPar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endParaRPr>
          </a:p>
        </p:txBody>
      </p:sp>
      <p:pic>
        <p:nvPicPr>
          <p:cNvPr id="272" name="Picture 271"/>
          <p:cNvPicPr>
            <a:picLocks noChangeAspect="1"/>
          </p:cNvPicPr>
          <p:nvPr/>
        </p:nvPicPr>
        <p:blipFill>
          <a:blip r:embed="rId6"/>
          <a:stretch>
            <a:fillRect/>
          </a:stretch>
        </p:blipFill>
        <p:spPr>
          <a:xfrm>
            <a:off x="19556095" y="35647630"/>
            <a:ext cx="7035800" cy="4170680"/>
          </a:xfrm>
          <a:prstGeom prst="rect">
            <a:avLst/>
          </a:prstGeom>
        </p:spPr>
      </p:pic>
      <p:sp>
        <p:nvSpPr>
          <p:cNvPr id="274" name="Text 162"/>
          <p:cNvSpPr/>
          <p:nvPr/>
        </p:nvSpPr>
        <p:spPr>
          <a:xfrm>
            <a:off x="19556095" y="39818310"/>
            <a:ext cx="7303135" cy="343535"/>
          </a:xfrm>
          <a:prstGeom prst="rect">
            <a:avLst/>
          </a:prstGeom>
          <a:noFill/>
        </p:spPr>
        <p:txBody>
          <a:bodyPr wrap="square" rtlCol="0" anchor="ctr"/>
          <a:lstStyle/>
          <a:p>
            <a:pPr marL="0" indent="0" algn="ctr">
              <a:buNone/>
            </a:pPr>
            <a:r>
              <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rPr>
              <a:t>Profile Wallet</a:t>
            </a:r>
            <a:endParaRPr lang="en-US" sz="1600" b="1" dirty="0">
              <a:solidFill>
                <a:schemeClr val="accent1">
                  <a:lumMod val="75000"/>
                </a:schemeClr>
              </a:solidFill>
              <a:latin typeface="Arial" panose="020B0604020202020204" pitchFamily="34" charset="0"/>
              <a:ea typeface="Arial" panose="020B0604020202020204" pitchFamily="34" charset="-122"/>
              <a:cs typeface="Arial" panose="020B0604020202020204"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2546</Words>
  <Application>WPS Presentation</Application>
  <PresentationFormat>Custom</PresentationFormat>
  <Paragraphs>140</Paragraphs>
  <Slides>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vt:i4>
      </vt:variant>
    </vt:vector>
  </HeadingPairs>
  <TitlesOfParts>
    <vt:vector size="15" baseType="lpstr">
      <vt:lpstr>Arial</vt:lpstr>
      <vt:lpstr>SimSun</vt:lpstr>
      <vt:lpstr>Wingdings</vt:lpstr>
      <vt:lpstr>Times New Roman</vt:lpstr>
      <vt:lpstr>Arial Unicode Bold</vt:lpstr>
      <vt:lpstr>Calibri</vt:lpstr>
      <vt:lpstr>Calibri</vt:lpstr>
      <vt:lpstr>Times New Roman</vt:lpstr>
      <vt:lpstr>Arial</vt:lpstr>
      <vt:lpstr>Arial</vt:lpstr>
      <vt:lpstr>Microsoft YaHei</vt:lpstr>
      <vt:lpstr>Arial Unicode MS</vt:lpstr>
      <vt:lpstr>Calibri Light</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Long Đỗ</cp:lastModifiedBy>
  <cp:revision>84</cp:revision>
  <dcterms:created xsi:type="dcterms:W3CDTF">2023-07-02T07:57:00Z</dcterms:created>
  <dcterms:modified xsi:type="dcterms:W3CDTF">2026-06-04T05:26:35Z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22ED41AE26AD4D8B9223D78B14B2E387_12</vt:lpwstr>
  </property>
</Properties>
</file>